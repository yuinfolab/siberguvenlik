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53" r:id="rId1"/>
  </p:sldMasterIdLst>
  <p:sldIdLst>
    <p:sldId id="256" r:id="rId2"/>
    <p:sldId id="257" r:id="rId3"/>
    <p:sldId id="258" r:id="rId4"/>
    <p:sldId id="259" r:id="rId5"/>
    <p:sldId id="267" r:id="rId6"/>
    <p:sldId id="268" r:id="rId7"/>
    <p:sldId id="269" r:id="rId8"/>
    <p:sldId id="270" r:id="rId9"/>
    <p:sldId id="272" r:id="rId10"/>
    <p:sldId id="273" r:id="rId11"/>
    <p:sldId id="280" r:id="rId12"/>
    <p:sldId id="274" r:id="rId13"/>
    <p:sldId id="277" r:id="rId14"/>
    <p:sldId id="278" r:id="rId15"/>
    <p:sldId id="281" r:id="rId16"/>
    <p:sldId id="279" r:id="rId17"/>
    <p:sldId id="282" r:id="rId18"/>
    <p:sldId id="265" r:id="rId19"/>
    <p:sldId id="276" r:id="rId20"/>
    <p:sldId id="261" r:id="rId21"/>
    <p:sldId id="263" r:id="rId22"/>
    <p:sldId id="262"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tr-TR"/>
              <a:t>Asıl başlık stilini düzenlemek için tıklayın</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24C2A45E-7A1C-4858-A8B7-23112C56E8AF}" type="datetimeFigureOut">
              <a:rPr lang="tr-TR" smtClean="0"/>
              <a:t>28.02.2022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7264BDBA-A89C-4842-9FC1-3D6314175362}" type="slidenum">
              <a:rPr lang="tr-TR" smtClean="0"/>
              <a:t>‹#›</a:t>
            </a:fld>
            <a:endParaRPr lang="tr-TR"/>
          </a:p>
        </p:txBody>
      </p:sp>
    </p:spTree>
    <p:extLst>
      <p:ext uri="{BB962C8B-B14F-4D97-AF65-F5344CB8AC3E}">
        <p14:creationId xmlns:p14="http://schemas.microsoft.com/office/powerpoint/2010/main" val="42613338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tr-TR"/>
              <a:t>Asıl başlık stilini düzenlemek için tıklayın</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24C2A45E-7A1C-4858-A8B7-23112C56E8AF}" type="datetimeFigureOut">
              <a:rPr lang="tr-TR" smtClean="0"/>
              <a:t>28.02.2022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7264BDBA-A89C-4842-9FC1-3D6314175362}" type="slidenum">
              <a:rPr lang="tr-TR" smtClean="0"/>
              <a:t>‹#›</a:t>
            </a:fld>
            <a:endParaRPr lang="tr-TR"/>
          </a:p>
        </p:txBody>
      </p:sp>
    </p:spTree>
    <p:extLst>
      <p:ext uri="{BB962C8B-B14F-4D97-AF65-F5344CB8AC3E}">
        <p14:creationId xmlns:p14="http://schemas.microsoft.com/office/powerpoint/2010/main" val="16399021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24C2A45E-7A1C-4858-A8B7-23112C56E8AF}" type="datetimeFigureOut">
              <a:rPr lang="tr-TR" smtClean="0"/>
              <a:t>28.02.2022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7264BDBA-A89C-4842-9FC1-3D6314175362}" type="slidenum">
              <a:rPr lang="tr-TR" smtClean="0"/>
              <a:t>‹#›</a:t>
            </a:fld>
            <a:endParaRPr lang="tr-TR"/>
          </a:p>
        </p:txBody>
      </p:sp>
    </p:spTree>
    <p:extLst>
      <p:ext uri="{BB962C8B-B14F-4D97-AF65-F5344CB8AC3E}">
        <p14:creationId xmlns:p14="http://schemas.microsoft.com/office/powerpoint/2010/main" val="27095140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24C2A45E-7A1C-4858-A8B7-23112C56E8AF}" type="datetimeFigureOut">
              <a:rPr lang="tr-TR" smtClean="0"/>
              <a:t>28.02.2022</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7264BDBA-A89C-4842-9FC1-3D6314175362}" type="slidenum">
              <a:rPr lang="tr-TR" smtClean="0"/>
              <a:t>‹#›</a:t>
            </a:fld>
            <a:endParaRPr lang="tr-TR"/>
          </a:p>
        </p:txBody>
      </p:sp>
    </p:spTree>
    <p:extLst>
      <p:ext uri="{BB962C8B-B14F-4D97-AF65-F5344CB8AC3E}">
        <p14:creationId xmlns:p14="http://schemas.microsoft.com/office/powerpoint/2010/main" val="1332637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tr-TR"/>
              <a:t>Asıl başlık stilini düzenlemek için tıklayın</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24C2A45E-7A1C-4858-A8B7-23112C56E8AF}" type="datetimeFigureOut">
              <a:rPr lang="tr-TR" smtClean="0"/>
              <a:t>28.02.2022</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7264BDBA-A89C-4842-9FC1-3D6314175362}" type="slidenum">
              <a:rPr lang="tr-TR" smtClean="0"/>
              <a:t>‹#›</a:t>
            </a:fld>
            <a:endParaRPr lang="tr-TR"/>
          </a:p>
        </p:txBody>
      </p:sp>
    </p:spTree>
    <p:extLst>
      <p:ext uri="{BB962C8B-B14F-4D97-AF65-F5344CB8AC3E}">
        <p14:creationId xmlns:p14="http://schemas.microsoft.com/office/powerpoint/2010/main" val="38599048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24C2A45E-7A1C-4858-A8B7-23112C56E8AF}" type="datetimeFigureOut">
              <a:rPr lang="tr-TR" smtClean="0"/>
              <a:t>28.02.2022</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7264BDBA-A89C-4842-9FC1-3D6314175362}" type="slidenum">
              <a:rPr lang="tr-TR" smtClean="0"/>
              <a:t>‹#›</a:t>
            </a:fld>
            <a:endParaRPr lang="tr-TR"/>
          </a:p>
        </p:txBody>
      </p:sp>
    </p:spTree>
    <p:extLst>
      <p:ext uri="{BB962C8B-B14F-4D97-AF65-F5344CB8AC3E}">
        <p14:creationId xmlns:p14="http://schemas.microsoft.com/office/powerpoint/2010/main" val="26800444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C2A45E-7A1C-4858-A8B7-23112C56E8AF}" type="datetimeFigureOut">
              <a:rPr lang="tr-TR" smtClean="0"/>
              <a:t>28.02.2022</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7264BDBA-A89C-4842-9FC1-3D6314175362}" type="slidenum">
              <a:rPr lang="tr-TR" smtClean="0"/>
              <a:t>‹#›</a:t>
            </a:fld>
            <a:endParaRPr lang="tr-TR"/>
          </a:p>
        </p:txBody>
      </p:sp>
    </p:spTree>
    <p:extLst>
      <p:ext uri="{BB962C8B-B14F-4D97-AF65-F5344CB8AC3E}">
        <p14:creationId xmlns:p14="http://schemas.microsoft.com/office/powerpoint/2010/main" val="34975444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tr-TR"/>
              <a:t>Asıl başlık stilini düzenlemek için tıklayın</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24C2A45E-7A1C-4858-A8B7-23112C56E8AF}" type="datetimeFigureOut">
              <a:rPr lang="tr-TR" smtClean="0"/>
              <a:t>28.02.2022</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7264BDBA-A89C-4842-9FC1-3D6314175362}" type="slidenum">
              <a:rPr lang="tr-TR" smtClean="0"/>
              <a:t>‹#›</a:t>
            </a:fld>
            <a:endParaRPr lang="tr-TR"/>
          </a:p>
        </p:txBody>
      </p:sp>
    </p:spTree>
    <p:extLst>
      <p:ext uri="{BB962C8B-B14F-4D97-AF65-F5344CB8AC3E}">
        <p14:creationId xmlns:p14="http://schemas.microsoft.com/office/powerpoint/2010/main" val="26511806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tr-TR"/>
              <a:t>Asıl başlık stilini düzenlemek için tıklayın</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tr-TR"/>
              <a:t>Resim eklemek için simgeye tıklayın</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a:xfrm>
            <a:off x="3885810" y="6041362"/>
            <a:ext cx="976879" cy="365125"/>
          </a:xfrm>
        </p:spPr>
        <p:txBody>
          <a:bodyPr/>
          <a:lstStyle/>
          <a:p>
            <a:fld id="{24C2A45E-7A1C-4858-A8B7-23112C56E8AF}" type="datetimeFigureOut">
              <a:rPr lang="tr-TR" smtClean="0"/>
              <a:t>28.02.2022</a:t>
            </a:fld>
            <a:endParaRPr lang="tr-TR"/>
          </a:p>
        </p:txBody>
      </p:sp>
      <p:sp>
        <p:nvSpPr>
          <p:cNvPr id="6" name="Footer Placeholder 5"/>
          <p:cNvSpPr>
            <a:spLocks noGrp="1"/>
          </p:cNvSpPr>
          <p:nvPr>
            <p:ph type="ftr" sz="quarter" idx="11"/>
          </p:nvPr>
        </p:nvSpPr>
        <p:spPr>
          <a:xfrm>
            <a:off x="590396" y="6041362"/>
            <a:ext cx="3295413" cy="365125"/>
          </a:xfrm>
        </p:spPr>
        <p:txBody>
          <a:bodyPr/>
          <a:lstStyle/>
          <a:p>
            <a:endParaRPr lang="tr-TR"/>
          </a:p>
        </p:txBody>
      </p:sp>
      <p:sp>
        <p:nvSpPr>
          <p:cNvPr id="7" name="Slide Number Placeholder 6"/>
          <p:cNvSpPr>
            <a:spLocks noGrp="1"/>
          </p:cNvSpPr>
          <p:nvPr>
            <p:ph type="sldNum" sz="quarter" idx="12"/>
          </p:nvPr>
        </p:nvSpPr>
        <p:spPr>
          <a:xfrm>
            <a:off x="4862689" y="5915888"/>
            <a:ext cx="1062155" cy="490599"/>
          </a:xfrm>
        </p:spPr>
        <p:txBody>
          <a:bodyPr/>
          <a:lstStyle/>
          <a:p>
            <a:fld id="{7264BDBA-A89C-4842-9FC1-3D6314175362}" type="slidenum">
              <a:rPr lang="tr-TR" smtClean="0"/>
              <a:t>‹#›</a:t>
            </a:fld>
            <a:endParaRPr lang="tr-TR"/>
          </a:p>
        </p:txBody>
      </p:sp>
    </p:spTree>
    <p:extLst>
      <p:ext uri="{BB962C8B-B14F-4D97-AF65-F5344CB8AC3E}">
        <p14:creationId xmlns:p14="http://schemas.microsoft.com/office/powerpoint/2010/main" val="5466061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Yazılı Panoramik Resim">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tr-TR"/>
              <a:t>Asıl başlık stilini düzenlemek için tıklayın</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tr-TR"/>
              <a:t>Resim eklemek için simgeye tıklayın</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24C2A45E-7A1C-4858-A8B7-23112C56E8AF}" type="datetimeFigureOut">
              <a:rPr lang="tr-TR" smtClean="0"/>
              <a:t>28.02.2022</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7264BDBA-A89C-4842-9FC1-3D6314175362}" type="slidenum">
              <a:rPr lang="tr-TR" smtClean="0"/>
              <a:t>‹#›</a:t>
            </a:fld>
            <a:endParaRPr lang="tr-TR"/>
          </a:p>
        </p:txBody>
      </p:sp>
    </p:spTree>
    <p:extLst>
      <p:ext uri="{BB962C8B-B14F-4D97-AF65-F5344CB8AC3E}">
        <p14:creationId xmlns:p14="http://schemas.microsoft.com/office/powerpoint/2010/main" val="23627923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24C2A45E-7A1C-4858-A8B7-23112C56E8AF}" type="datetimeFigureOut">
              <a:rPr lang="tr-TR" smtClean="0"/>
              <a:t>28.02.2022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7264BDBA-A89C-4842-9FC1-3D6314175362}" type="slidenum">
              <a:rPr lang="tr-TR" smtClean="0"/>
              <a:t>‹#›</a:t>
            </a:fld>
            <a:endParaRPr lang="tr-TR"/>
          </a:p>
        </p:txBody>
      </p:sp>
    </p:spTree>
    <p:extLst>
      <p:ext uri="{BB962C8B-B14F-4D97-AF65-F5344CB8AC3E}">
        <p14:creationId xmlns:p14="http://schemas.microsoft.com/office/powerpoint/2010/main" val="24835280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tr-TR"/>
              <a:t>Asıl başlık stilini düzenlemek için tıklayın</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tr-TR"/>
              <a:t>Asıl metin stillerini düzenlemek için tıklayın</a:t>
            </a:r>
          </a:p>
        </p:txBody>
      </p:sp>
      <p:sp>
        <p:nvSpPr>
          <p:cNvPr id="2" name="Date Placeholder 1"/>
          <p:cNvSpPr>
            <a:spLocks noGrp="1"/>
          </p:cNvSpPr>
          <p:nvPr>
            <p:ph type="dt" sz="half" idx="10"/>
          </p:nvPr>
        </p:nvSpPr>
        <p:spPr/>
        <p:txBody>
          <a:bodyPr/>
          <a:lstStyle/>
          <a:p>
            <a:fld id="{24C2A45E-7A1C-4858-A8B7-23112C56E8AF}" type="datetimeFigureOut">
              <a:rPr lang="tr-TR" smtClean="0"/>
              <a:t>28.02.2022</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7264BDBA-A89C-4842-9FC1-3D6314175362}" type="slidenum">
              <a:rPr lang="tr-TR" smtClean="0"/>
              <a:t>‹#›</a:t>
            </a:fld>
            <a:endParaRPr lang="tr-TR"/>
          </a:p>
        </p:txBody>
      </p:sp>
    </p:spTree>
    <p:extLst>
      <p:ext uri="{BB962C8B-B14F-4D97-AF65-F5344CB8AC3E}">
        <p14:creationId xmlns:p14="http://schemas.microsoft.com/office/powerpoint/2010/main" val="31936124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ncho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24C2A45E-7A1C-4858-A8B7-23112C56E8AF}" type="datetimeFigureOut">
              <a:rPr lang="tr-TR" smtClean="0"/>
              <a:t>28.02.2022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7264BDBA-A89C-4842-9FC1-3D6314175362}" type="slidenum">
              <a:rPr lang="tr-TR" smtClean="0"/>
              <a:t>‹#›</a:t>
            </a:fld>
            <a:endParaRPr lang="tr-TR"/>
          </a:p>
        </p:txBody>
      </p:sp>
    </p:spTree>
    <p:extLst>
      <p:ext uri="{BB962C8B-B14F-4D97-AF65-F5344CB8AC3E}">
        <p14:creationId xmlns:p14="http://schemas.microsoft.com/office/powerpoint/2010/main" val="12424976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24C2A45E-7A1C-4858-A8B7-23112C56E8AF}" type="datetimeFigureOut">
              <a:rPr lang="tr-TR" smtClean="0"/>
              <a:t>28.02.2022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7264BDBA-A89C-4842-9FC1-3D6314175362}" type="slidenum">
              <a:rPr lang="tr-TR" smtClean="0"/>
              <a:t>‹#›</a:t>
            </a:fld>
            <a:endParaRPr lang="tr-TR"/>
          </a:p>
        </p:txBody>
      </p:sp>
    </p:spTree>
    <p:extLst>
      <p:ext uri="{BB962C8B-B14F-4D97-AF65-F5344CB8AC3E}">
        <p14:creationId xmlns:p14="http://schemas.microsoft.com/office/powerpoint/2010/main" val="6528224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1_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12" name="Content Placeholder 2"/>
          <p:cNvSpPr>
            <a:spLocks noGrp="1"/>
          </p:cNvSpPr>
          <p:nvPr>
            <p:ph sz="quarter" idx="13"/>
          </p:nvPr>
        </p:nvSpPr>
        <p:spPr>
          <a:xfrm>
            <a:off x="685800" y="2063396"/>
            <a:ext cx="10394707" cy="3311189"/>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24C2A45E-7A1C-4858-A8B7-23112C56E8AF}" type="datetimeFigureOut">
              <a:rPr lang="tr-TR" smtClean="0"/>
              <a:t>28.02.2022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7264BDBA-A89C-4842-9FC1-3D6314175362}" type="slidenum">
              <a:rPr lang="tr-TR" smtClean="0"/>
              <a:t>‹#›</a:t>
            </a:fld>
            <a:endParaRPr lang="tr-TR"/>
          </a:p>
        </p:txBody>
      </p:sp>
    </p:spTree>
    <p:extLst>
      <p:ext uri="{BB962C8B-B14F-4D97-AF65-F5344CB8AC3E}">
        <p14:creationId xmlns:p14="http://schemas.microsoft.com/office/powerpoint/2010/main" val="656502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tr-TR"/>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24C2A45E-7A1C-4858-A8B7-23112C56E8AF}" type="datetimeFigureOut">
              <a:rPr lang="tr-TR" smtClean="0"/>
              <a:t>28.02.2022</a:t>
            </a:fld>
            <a:endParaRPr lang="tr-TR"/>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7264BDBA-A89C-4842-9FC1-3D6314175362}" type="slidenum">
              <a:rPr lang="tr-TR" smtClean="0"/>
              <a:t>‹#›</a:t>
            </a:fld>
            <a:endParaRPr lang="tr-TR"/>
          </a:p>
        </p:txBody>
      </p:sp>
    </p:spTree>
    <p:extLst>
      <p:ext uri="{BB962C8B-B14F-4D97-AF65-F5344CB8AC3E}">
        <p14:creationId xmlns:p14="http://schemas.microsoft.com/office/powerpoint/2010/main" val="231725148"/>
      </p:ext>
    </p:extLst>
  </p:cSld>
  <p:clrMap bg1="dk1" tx1="lt1" bg2="dk2" tx2="lt2" accent1="accent1" accent2="accent2" accent3="accent3" accent4="accent4" accent5="accent5" accent6="accent6" hlink="hlink" folHlink="folHlink"/>
  <p:sldLayoutIdLst>
    <p:sldLayoutId id="2147483954" r:id="rId1"/>
    <p:sldLayoutId id="2147483955" r:id="rId2"/>
    <p:sldLayoutId id="2147483956" r:id="rId3"/>
    <p:sldLayoutId id="2147483957" r:id="rId4"/>
    <p:sldLayoutId id="2147483958" r:id="rId5"/>
    <p:sldLayoutId id="2147483959" r:id="rId6"/>
    <p:sldLayoutId id="2147483960" r:id="rId7"/>
    <p:sldLayoutId id="2147483961" r:id="rId8"/>
    <p:sldLayoutId id="2147483962" r:id="rId9"/>
    <p:sldLayoutId id="2147483963" r:id="rId10"/>
    <p:sldLayoutId id="2147483964" r:id="rId11"/>
    <p:sldLayoutId id="2147483965" r:id="rId12"/>
    <p:sldLayoutId id="2147483966" r:id="rId13"/>
    <p:sldLayoutId id="2147483967" r:id="rId14"/>
    <p:sldLayoutId id="2147483968" r:id="rId15"/>
  </p:sldLayoutIdLst>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6.webp"/><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hyperlink" Target="https://berqnet.com/blog/siber-suc-nedir" TargetMode="Externa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hyperlink" Target="https://www.linkedin.com/in/emrecan%C3%25B" TargetMode="External"/><Relationship Id="rId2" Type="http://schemas.openxmlformats.org/officeDocument/2006/relationships/hyperlink" Target="https://www.linkedin.com/in/umutccapar/" TargetMode="Externa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DC1E700-5F1A-479F-B1D8-38423DDD6F62}"/>
              </a:ext>
            </a:extLst>
          </p:cNvPr>
          <p:cNvSpPr>
            <a:spLocks noGrp="1"/>
          </p:cNvSpPr>
          <p:nvPr>
            <p:ph type="ctrTitle"/>
          </p:nvPr>
        </p:nvSpPr>
        <p:spPr>
          <a:xfrm>
            <a:off x="386686" y="2167097"/>
            <a:ext cx="10548379" cy="3334544"/>
          </a:xfrm>
        </p:spPr>
        <p:txBody>
          <a:bodyPr>
            <a:noAutofit/>
          </a:bodyPr>
          <a:lstStyle/>
          <a:p>
            <a:pPr algn="ctr"/>
            <a:r>
              <a:rPr lang="tr-TR" sz="9600" dirty="0">
                <a:solidFill>
                  <a:schemeClr val="bg1"/>
                </a:solidFill>
              </a:rPr>
              <a:t>   YEDİTEPE </a:t>
            </a:r>
            <a:br>
              <a:rPr lang="tr-TR" sz="9600" dirty="0">
                <a:solidFill>
                  <a:schemeClr val="bg1"/>
                </a:solidFill>
              </a:rPr>
            </a:br>
            <a:r>
              <a:rPr lang="tr-TR" sz="9600" dirty="0">
                <a:solidFill>
                  <a:schemeClr val="bg1"/>
                </a:solidFill>
              </a:rPr>
              <a:t>   ÜNİVERSİTESİ</a:t>
            </a:r>
            <a:br>
              <a:rPr lang="tr-TR" sz="9600" dirty="0"/>
            </a:br>
            <a:endParaRPr lang="tr-TR" sz="9600" dirty="0"/>
          </a:p>
        </p:txBody>
      </p:sp>
      <p:sp>
        <p:nvSpPr>
          <p:cNvPr id="3" name="Metin kutusu 2">
            <a:extLst>
              <a:ext uri="{FF2B5EF4-FFF2-40B4-BE49-F238E27FC236}">
                <a16:creationId xmlns:a16="http://schemas.microsoft.com/office/drawing/2014/main" id="{864ECE5E-8406-4D9F-B845-F90B075055D6}"/>
              </a:ext>
            </a:extLst>
          </p:cNvPr>
          <p:cNvSpPr txBox="1"/>
          <p:nvPr/>
        </p:nvSpPr>
        <p:spPr>
          <a:xfrm>
            <a:off x="2682240" y="5242561"/>
            <a:ext cx="10713720" cy="1107996"/>
          </a:xfrm>
          <a:prstGeom prst="rect">
            <a:avLst/>
          </a:prstGeom>
          <a:noFill/>
        </p:spPr>
        <p:txBody>
          <a:bodyPr wrap="square" rtlCol="0">
            <a:spAutoFit/>
          </a:bodyPr>
          <a:lstStyle/>
          <a:p>
            <a:r>
              <a:rPr lang="tr-TR" sz="6600" b="1" dirty="0"/>
              <a:t>SİBER GÜVENLİK KAMPI</a:t>
            </a:r>
          </a:p>
        </p:txBody>
      </p:sp>
      <p:pic>
        <p:nvPicPr>
          <p:cNvPr id="6" name="Resim 5">
            <a:extLst>
              <a:ext uri="{FF2B5EF4-FFF2-40B4-BE49-F238E27FC236}">
                <a16:creationId xmlns:a16="http://schemas.microsoft.com/office/drawing/2014/main" id="{9B7763A5-4B88-4BBF-BB3B-AFC8A1FE27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33" y="5087604"/>
            <a:ext cx="2669207" cy="1617701"/>
          </a:xfrm>
          <a:prstGeom prst="rect">
            <a:avLst/>
          </a:prstGeom>
        </p:spPr>
      </p:pic>
    </p:spTree>
    <p:extLst>
      <p:ext uri="{BB962C8B-B14F-4D97-AF65-F5344CB8AC3E}">
        <p14:creationId xmlns:p14="http://schemas.microsoft.com/office/powerpoint/2010/main" val="12709600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0014CC0-13F0-4E02-A742-D4BE23D5D438}"/>
              </a:ext>
            </a:extLst>
          </p:cNvPr>
          <p:cNvSpPr>
            <a:spLocks noGrp="1"/>
          </p:cNvSpPr>
          <p:nvPr>
            <p:ph type="title"/>
          </p:nvPr>
        </p:nvSpPr>
        <p:spPr>
          <a:xfrm>
            <a:off x="0" y="163512"/>
            <a:ext cx="12192000" cy="1151965"/>
          </a:xfrm>
        </p:spPr>
        <p:txBody>
          <a:bodyPr/>
          <a:lstStyle/>
          <a:p>
            <a:pPr algn="just"/>
            <a:r>
              <a:rPr lang="tr-TR" dirty="0"/>
              <a:t>             </a:t>
            </a:r>
            <a:r>
              <a:rPr lang="tr-TR" sz="5400" dirty="0"/>
              <a:t>NEDİR BU SİBER GÜVENLİK</a:t>
            </a:r>
          </a:p>
        </p:txBody>
      </p:sp>
      <p:sp>
        <p:nvSpPr>
          <p:cNvPr id="3" name="İçerik Yer Tutucusu 2">
            <a:extLst>
              <a:ext uri="{FF2B5EF4-FFF2-40B4-BE49-F238E27FC236}">
                <a16:creationId xmlns:a16="http://schemas.microsoft.com/office/drawing/2014/main" id="{778173ED-C249-4FD9-AB58-01B996FFD28A}"/>
              </a:ext>
            </a:extLst>
          </p:cNvPr>
          <p:cNvSpPr>
            <a:spLocks noGrp="1"/>
          </p:cNvSpPr>
          <p:nvPr>
            <p:ph sz="quarter" idx="13"/>
          </p:nvPr>
        </p:nvSpPr>
        <p:spPr>
          <a:xfrm>
            <a:off x="437828" y="1917368"/>
            <a:ext cx="8256722" cy="4467153"/>
          </a:xfrm>
        </p:spPr>
        <p:txBody>
          <a:bodyPr>
            <a:normAutofit fontScale="92500"/>
          </a:bodyPr>
          <a:lstStyle/>
          <a:p>
            <a:pPr marL="0" indent="0">
              <a:buNone/>
            </a:pPr>
            <a:r>
              <a:rPr lang="tr-TR" sz="2800" dirty="0">
                <a:latin typeface="Bahnschrift" panose="020B0502040204020203" pitchFamily="34" charset="0"/>
              </a:rPr>
              <a:t> Siber güvenlik esasında temel olarak internet üzerinde bağlı olan bütün cihazların odak noktası diyebiliriz.</a:t>
            </a:r>
          </a:p>
          <a:p>
            <a:pPr marL="0" indent="0">
              <a:buNone/>
            </a:pPr>
            <a:endParaRPr lang="tr-TR" sz="2800" dirty="0">
              <a:latin typeface="Bahnschrift" panose="020B0502040204020203" pitchFamily="34" charset="0"/>
            </a:endParaRPr>
          </a:p>
          <a:p>
            <a:pPr marL="0" indent="0">
              <a:buNone/>
            </a:pPr>
            <a:r>
              <a:rPr lang="tr-TR" sz="2800" dirty="0">
                <a:latin typeface="Bahnschrift" panose="020B0502040204020203" pitchFamily="34" charset="0"/>
              </a:rPr>
              <a:t> Günümüzde internet kullanımı ile birlikte cihaz sayısı arttıkça bu veri yolu üzerinde dolaşan verilerin boyutu da her geçen gün gittikçe büyümektedir. Tabi bu verilerin bazıları çeşitli güvenlik metotları ile birlikte korunmaya çalışır iken, bazıları güvensiz bir şekilde dolaşmaya devam etmektedir.</a:t>
            </a:r>
          </a:p>
        </p:txBody>
      </p:sp>
      <p:pic>
        <p:nvPicPr>
          <p:cNvPr id="5" name="Resim 4">
            <a:extLst>
              <a:ext uri="{FF2B5EF4-FFF2-40B4-BE49-F238E27FC236}">
                <a16:creationId xmlns:a16="http://schemas.microsoft.com/office/drawing/2014/main" id="{620C3FBE-CCD4-4948-AD64-BB86D000AC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39651" y="2465896"/>
            <a:ext cx="2914521" cy="2794116"/>
          </a:xfrm>
          <a:prstGeom prst="rect">
            <a:avLst/>
          </a:prstGeom>
        </p:spPr>
      </p:pic>
    </p:spTree>
    <p:extLst>
      <p:ext uri="{BB962C8B-B14F-4D97-AF65-F5344CB8AC3E}">
        <p14:creationId xmlns:p14="http://schemas.microsoft.com/office/powerpoint/2010/main" val="19902646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3D6499D-8DB7-4DEE-BA6B-5B381EC88F43}"/>
              </a:ext>
            </a:extLst>
          </p:cNvPr>
          <p:cNvSpPr>
            <a:spLocks noGrp="1"/>
          </p:cNvSpPr>
          <p:nvPr>
            <p:ph type="title"/>
          </p:nvPr>
        </p:nvSpPr>
        <p:spPr>
          <a:xfrm>
            <a:off x="444285" y="512965"/>
            <a:ext cx="11747715" cy="970450"/>
          </a:xfrm>
        </p:spPr>
        <p:txBody>
          <a:bodyPr/>
          <a:lstStyle/>
          <a:p>
            <a:r>
              <a:rPr lang="tr-TR" sz="6000" dirty="0"/>
              <a:t>PEKİ BİZİM İÇİN NEDEN ÖNEMLİ</a:t>
            </a:r>
          </a:p>
        </p:txBody>
      </p:sp>
      <p:sp>
        <p:nvSpPr>
          <p:cNvPr id="3" name="İçerik Yer Tutucusu 2">
            <a:extLst>
              <a:ext uri="{FF2B5EF4-FFF2-40B4-BE49-F238E27FC236}">
                <a16:creationId xmlns:a16="http://schemas.microsoft.com/office/drawing/2014/main" id="{262318FA-6C4F-4075-A87B-46703B4C7866}"/>
              </a:ext>
            </a:extLst>
          </p:cNvPr>
          <p:cNvSpPr>
            <a:spLocks noGrp="1"/>
          </p:cNvSpPr>
          <p:nvPr>
            <p:ph sz="quarter" idx="13"/>
          </p:nvPr>
        </p:nvSpPr>
        <p:spPr>
          <a:xfrm>
            <a:off x="4179376" y="1837150"/>
            <a:ext cx="7738820" cy="4507885"/>
          </a:xfrm>
        </p:spPr>
        <p:txBody>
          <a:bodyPr>
            <a:normAutofit/>
          </a:bodyPr>
          <a:lstStyle/>
          <a:p>
            <a:pPr marL="0" indent="0">
              <a:buNone/>
            </a:pPr>
            <a:r>
              <a:rPr lang="tr-TR" sz="3200" b="0" i="0" dirty="0">
                <a:effectLst/>
                <a:latin typeface="Bahnschrift" panose="020B0502040204020203" pitchFamily="34" charset="0"/>
              </a:rPr>
              <a:t>  Artık kolumuzdaki saatlerimizden, evimizdeki ampullere kadar neredeyse tüm cihazlarımız internet ile etkileşim içerisindedir ve bu cihazlar gün geçtikçe artmaktadır. Kullandığımız teknolojiler yararları ve ileride bize açabileceği sorunları yeteri kadar bilinmesi gerekmektedir.</a:t>
            </a:r>
            <a:endParaRPr lang="tr-TR" sz="3200" dirty="0">
              <a:latin typeface="Bahnschrift" panose="020B0502040204020203" pitchFamily="34" charset="0"/>
            </a:endParaRPr>
          </a:p>
        </p:txBody>
      </p:sp>
      <p:pic>
        <p:nvPicPr>
          <p:cNvPr id="7" name="Resim 6">
            <a:extLst>
              <a:ext uri="{FF2B5EF4-FFF2-40B4-BE49-F238E27FC236}">
                <a16:creationId xmlns:a16="http://schemas.microsoft.com/office/drawing/2014/main" id="{DE8414CC-F3C4-41F9-93EB-806DCBEF8B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3770" y="2638772"/>
            <a:ext cx="3245603" cy="3245603"/>
          </a:xfrm>
          <a:prstGeom prst="rect">
            <a:avLst/>
          </a:prstGeom>
        </p:spPr>
      </p:pic>
    </p:spTree>
    <p:extLst>
      <p:ext uri="{BB962C8B-B14F-4D97-AF65-F5344CB8AC3E}">
        <p14:creationId xmlns:p14="http://schemas.microsoft.com/office/powerpoint/2010/main" val="38739214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0161279-AF5B-451D-902E-20B224B5C8A5}"/>
              </a:ext>
            </a:extLst>
          </p:cNvPr>
          <p:cNvSpPr>
            <a:spLocks noGrp="1"/>
          </p:cNvSpPr>
          <p:nvPr>
            <p:ph type="title"/>
          </p:nvPr>
        </p:nvSpPr>
        <p:spPr>
          <a:xfrm>
            <a:off x="685800" y="512965"/>
            <a:ext cx="11329261" cy="970450"/>
          </a:xfrm>
        </p:spPr>
        <p:txBody>
          <a:bodyPr/>
          <a:lstStyle/>
          <a:p>
            <a:r>
              <a:rPr lang="tr-TR" sz="6000" dirty="0"/>
              <a:t>SİBER GÜVENLİK ALT DALLARI</a:t>
            </a:r>
          </a:p>
        </p:txBody>
      </p:sp>
      <p:sp>
        <p:nvSpPr>
          <p:cNvPr id="3" name="İçerik Yer Tutucusu 2">
            <a:extLst>
              <a:ext uri="{FF2B5EF4-FFF2-40B4-BE49-F238E27FC236}">
                <a16:creationId xmlns:a16="http://schemas.microsoft.com/office/drawing/2014/main" id="{F13AA2FF-DE8C-4CE0-A4D1-09117DC9E0AA}"/>
              </a:ext>
            </a:extLst>
          </p:cNvPr>
          <p:cNvSpPr>
            <a:spLocks noGrp="1"/>
          </p:cNvSpPr>
          <p:nvPr>
            <p:ph sz="quarter" idx="13"/>
          </p:nvPr>
        </p:nvSpPr>
        <p:spPr>
          <a:xfrm>
            <a:off x="891799" y="2303305"/>
            <a:ext cx="9899543" cy="4041730"/>
          </a:xfrm>
        </p:spPr>
        <p:txBody>
          <a:bodyPr>
            <a:noAutofit/>
          </a:bodyPr>
          <a:lstStyle/>
          <a:p>
            <a:pPr marL="0" indent="0">
              <a:buNone/>
            </a:pPr>
            <a:r>
              <a:rPr lang="tr-TR" sz="2400" dirty="0"/>
              <a:t>Network Güvenliği						     </a:t>
            </a:r>
            <a:r>
              <a:rPr lang="tr-TR" sz="2400" dirty="0" err="1"/>
              <a:t>Exploit</a:t>
            </a:r>
            <a:r>
              <a:rPr lang="tr-TR" sz="2400" dirty="0"/>
              <a:t> Geliştirme 				</a:t>
            </a:r>
          </a:p>
          <a:p>
            <a:pPr marL="0" indent="0">
              <a:buNone/>
            </a:pPr>
            <a:r>
              <a:rPr lang="tr-TR" sz="2400" dirty="0"/>
              <a:t>Kablosuz Ağ Güvenliği				     </a:t>
            </a:r>
            <a:r>
              <a:rPr lang="tr-TR" sz="2400" dirty="0" err="1"/>
              <a:t>Pentest</a:t>
            </a:r>
            <a:r>
              <a:rPr lang="tr-TR" sz="2400" dirty="0"/>
              <a:t> (Sızma Testi)			</a:t>
            </a:r>
          </a:p>
          <a:p>
            <a:pPr marL="0" indent="0">
              <a:buNone/>
            </a:pPr>
            <a:r>
              <a:rPr lang="tr-TR" sz="2400" dirty="0"/>
              <a:t>Web Uygulama Güvenliği    			     </a:t>
            </a:r>
            <a:r>
              <a:rPr lang="tr-TR" sz="2400" dirty="0" err="1"/>
              <a:t>Veritabanı</a:t>
            </a:r>
            <a:r>
              <a:rPr lang="tr-TR" sz="2400" dirty="0"/>
              <a:t> Güvenliği 			</a:t>
            </a:r>
          </a:p>
          <a:p>
            <a:pPr marL="0" indent="0">
              <a:buNone/>
            </a:pPr>
            <a:r>
              <a:rPr lang="tr-TR" sz="2400" dirty="0"/>
              <a:t>Tersine Mühendislik 						</a:t>
            </a:r>
            <a:r>
              <a:rPr lang="tr-TR" sz="2400" dirty="0" err="1"/>
              <a:t>Kriptografi</a:t>
            </a:r>
            <a:r>
              <a:rPr lang="tr-TR" sz="2400" dirty="0"/>
              <a:t> 						</a:t>
            </a:r>
          </a:p>
          <a:p>
            <a:pPr marL="0" indent="0">
              <a:buNone/>
            </a:pPr>
            <a:r>
              <a:rPr lang="tr-TR" sz="2400" dirty="0"/>
              <a:t>Zararlı Yazılım Analistliği</a:t>
            </a:r>
          </a:p>
          <a:p>
            <a:pPr marL="0" indent="0">
              <a:buNone/>
            </a:pPr>
            <a:r>
              <a:rPr lang="tr-TR" sz="2400" dirty="0"/>
              <a:t>Adli Bilişim</a:t>
            </a:r>
          </a:p>
          <a:p>
            <a:pPr marL="0" indent="0">
              <a:buNone/>
            </a:pPr>
            <a:r>
              <a:rPr lang="tr-TR" sz="2400" dirty="0"/>
              <a:t>Siber Tehdit İstihbaratı</a:t>
            </a:r>
          </a:p>
        </p:txBody>
      </p:sp>
      <p:sp>
        <p:nvSpPr>
          <p:cNvPr id="4" name="Metin kutusu 3">
            <a:extLst>
              <a:ext uri="{FF2B5EF4-FFF2-40B4-BE49-F238E27FC236}">
                <a16:creationId xmlns:a16="http://schemas.microsoft.com/office/drawing/2014/main" id="{26A94C84-AE18-4919-AA5C-45E1FA50A069}"/>
              </a:ext>
            </a:extLst>
          </p:cNvPr>
          <p:cNvSpPr txBox="1"/>
          <p:nvPr/>
        </p:nvSpPr>
        <p:spPr>
          <a:xfrm>
            <a:off x="6684718" y="2085437"/>
            <a:ext cx="4417017" cy="4154984"/>
          </a:xfrm>
          <a:prstGeom prst="rect">
            <a:avLst/>
          </a:prstGeom>
          <a:noFill/>
        </p:spPr>
        <p:txBody>
          <a:bodyPr wrap="square" rtlCol="0">
            <a:spAutoFit/>
          </a:bodyPr>
          <a:lstStyle/>
          <a:p>
            <a:endParaRPr lang="tr-TR" sz="2400" dirty="0"/>
          </a:p>
          <a:p>
            <a:pPr marL="342900" indent="-342900">
              <a:buFont typeface="Courier New" panose="02070309020205020404" pitchFamily="49" charset="0"/>
              <a:buChar char="o"/>
            </a:pPr>
            <a:endParaRPr lang="tr-TR" sz="2400" dirty="0"/>
          </a:p>
          <a:p>
            <a:pPr marL="342900" indent="-342900">
              <a:buFont typeface="Courier New" panose="02070309020205020404" pitchFamily="49" charset="0"/>
              <a:buChar char="o"/>
            </a:pPr>
            <a:endParaRPr lang="tr-TR" sz="2400" dirty="0"/>
          </a:p>
          <a:p>
            <a:pPr marL="342900" indent="-342900">
              <a:buFont typeface="Courier New" panose="02070309020205020404" pitchFamily="49" charset="0"/>
              <a:buChar char="o"/>
            </a:pPr>
            <a:endParaRPr lang="tr-TR" sz="2400" dirty="0"/>
          </a:p>
          <a:p>
            <a:pPr marL="342900" indent="-342900">
              <a:buFont typeface="Courier New" panose="02070309020205020404" pitchFamily="49" charset="0"/>
              <a:buChar char="o"/>
            </a:pPr>
            <a:endParaRPr lang="tr-TR" sz="2400" dirty="0"/>
          </a:p>
          <a:p>
            <a:pPr marL="342900" indent="-342900">
              <a:buFont typeface="Courier New" panose="02070309020205020404" pitchFamily="49" charset="0"/>
              <a:buChar char="o"/>
            </a:pPr>
            <a:endParaRPr lang="tr-TR" sz="2400" dirty="0"/>
          </a:p>
          <a:p>
            <a:pPr marL="342900" indent="-342900">
              <a:buFont typeface="Courier New" panose="02070309020205020404" pitchFamily="49" charset="0"/>
              <a:buChar char="o"/>
            </a:pPr>
            <a:endParaRPr lang="tr-TR" sz="2400" dirty="0"/>
          </a:p>
          <a:p>
            <a:pPr marL="342900" indent="-342900">
              <a:buFont typeface="Courier New" panose="02070309020205020404" pitchFamily="49" charset="0"/>
              <a:buChar char="o"/>
            </a:pPr>
            <a:endParaRPr lang="tr-TR" sz="2400" dirty="0"/>
          </a:p>
          <a:p>
            <a:pPr marL="342900" indent="-342900">
              <a:buFont typeface="Courier New" panose="02070309020205020404" pitchFamily="49" charset="0"/>
              <a:buChar char="o"/>
            </a:pPr>
            <a:endParaRPr lang="tr-TR" sz="2400" dirty="0"/>
          </a:p>
          <a:p>
            <a:pPr marL="342900" indent="-342900">
              <a:buFont typeface="Courier New" panose="02070309020205020404" pitchFamily="49" charset="0"/>
              <a:buChar char="o"/>
            </a:pPr>
            <a:endParaRPr lang="tr-TR" sz="2400" dirty="0"/>
          </a:p>
          <a:p>
            <a:pPr marL="342900" indent="-342900">
              <a:buFont typeface="Courier New" panose="02070309020205020404" pitchFamily="49" charset="0"/>
              <a:buChar char="o"/>
            </a:pPr>
            <a:endParaRPr lang="tr-TR" sz="2400" dirty="0"/>
          </a:p>
        </p:txBody>
      </p:sp>
    </p:spTree>
    <p:extLst>
      <p:ext uri="{BB962C8B-B14F-4D97-AF65-F5344CB8AC3E}">
        <p14:creationId xmlns:p14="http://schemas.microsoft.com/office/powerpoint/2010/main" val="17213496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D286A93-A78B-4D64-BED2-389BA07017E1}"/>
              </a:ext>
            </a:extLst>
          </p:cNvPr>
          <p:cNvSpPr>
            <a:spLocks noGrp="1"/>
          </p:cNvSpPr>
          <p:nvPr>
            <p:ph type="title"/>
          </p:nvPr>
        </p:nvSpPr>
        <p:spPr>
          <a:xfrm>
            <a:off x="1206240" y="512965"/>
            <a:ext cx="10571998" cy="970450"/>
          </a:xfrm>
        </p:spPr>
        <p:txBody>
          <a:bodyPr/>
          <a:lstStyle/>
          <a:p>
            <a:r>
              <a:rPr lang="tr-TR" sz="7200" dirty="0"/>
              <a:t>NETWORK GÜVENLİĞİ</a:t>
            </a:r>
          </a:p>
        </p:txBody>
      </p:sp>
      <p:sp>
        <p:nvSpPr>
          <p:cNvPr id="3" name="İçerik Yer Tutucusu 2">
            <a:extLst>
              <a:ext uri="{FF2B5EF4-FFF2-40B4-BE49-F238E27FC236}">
                <a16:creationId xmlns:a16="http://schemas.microsoft.com/office/drawing/2014/main" id="{FE4347F4-A682-471B-B2B7-C673E111BDF0}"/>
              </a:ext>
            </a:extLst>
          </p:cNvPr>
          <p:cNvSpPr>
            <a:spLocks noGrp="1"/>
          </p:cNvSpPr>
          <p:nvPr>
            <p:ph sz="quarter" idx="13"/>
          </p:nvPr>
        </p:nvSpPr>
        <p:spPr>
          <a:xfrm>
            <a:off x="413762" y="2053351"/>
            <a:ext cx="5806439" cy="4428844"/>
          </a:xfrm>
        </p:spPr>
        <p:txBody>
          <a:bodyPr>
            <a:normAutofit lnSpcReduction="10000"/>
          </a:bodyPr>
          <a:lstStyle/>
          <a:p>
            <a:pPr marL="0" indent="0">
              <a:buNone/>
            </a:pPr>
            <a:r>
              <a:rPr lang="tr-TR" sz="3600" dirty="0"/>
              <a:t>  Network Güvenliği, potansiyel tehditlerin ağa girmesini  veya yayılmasını önleyerek bir şirketin altyapısının  kullanılabilirliğini ve bütünlüğünü koruyan bir alt daldır</a:t>
            </a:r>
          </a:p>
        </p:txBody>
      </p:sp>
      <p:pic>
        <p:nvPicPr>
          <p:cNvPr id="5" name="Resim 4">
            <a:extLst>
              <a:ext uri="{FF2B5EF4-FFF2-40B4-BE49-F238E27FC236}">
                <a16:creationId xmlns:a16="http://schemas.microsoft.com/office/drawing/2014/main" id="{2A2832A6-EF27-4324-961D-E687A2F36B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34738" y="2248473"/>
            <a:ext cx="5143500" cy="3429000"/>
          </a:xfrm>
          <a:prstGeom prst="rect">
            <a:avLst/>
          </a:prstGeom>
        </p:spPr>
      </p:pic>
    </p:spTree>
    <p:extLst>
      <p:ext uri="{BB962C8B-B14F-4D97-AF65-F5344CB8AC3E}">
        <p14:creationId xmlns:p14="http://schemas.microsoft.com/office/powerpoint/2010/main" val="1444967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21D99AB-AA3F-41B3-8A45-29D090881B77}"/>
              </a:ext>
            </a:extLst>
          </p:cNvPr>
          <p:cNvSpPr>
            <a:spLocks noGrp="1"/>
          </p:cNvSpPr>
          <p:nvPr>
            <p:ph type="title"/>
          </p:nvPr>
        </p:nvSpPr>
        <p:spPr>
          <a:xfrm>
            <a:off x="1343400" y="512965"/>
            <a:ext cx="10571998" cy="970450"/>
          </a:xfrm>
        </p:spPr>
        <p:txBody>
          <a:bodyPr/>
          <a:lstStyle/>
          <a:p>
            <a:r>
              <a:rPr lang="tr-TR" sz="6000" dirty="0"/>
              <a:t>KABLOSUZ AĞ GÜVENLİĞİ</a:t>
            </a:r>
          </a:p>
        </p:txBody>
      </p:sp>
      <p:sp>
        <p:nvSpPr>
          <p:cNvPr id="3" name="İçerik Yer Tutucusu 2">
            <a:extLst>
              <a:ext uri="{FF2B5EF4-FFF2-40B4-BE49-F238E27FC236}">
                <a16:creationId xmlns:a16="http://schemas.microsoft.com/office/drawing/2014/main" id="{51D7071C-3623-4930-A97E-E029488189CB}"/>
              </a:ext>
            </a:extLst>
          </p:cNvPr>
          <p:cNvSpPr>
            <a:spLocks noGrp="1"/>
          </p:cNvSpPr>
          <p:nvPr>
            <p:ph sz="quarter" idx="13"/>
          </p:nvPr>
        </p:nvSpPr>
        <p:spPr>
          <a:xfrm>
            <a:off x="474817" y="1584804"/>
            <a:ext cx="7269479" cy="4550764"/>
          </a:xfrm>
        </p:spPr>
        <p:txBody>
          <a:bodyPr>
            <a:normAutofit/>
          </a:bodyPr>
          <a:lstStyle/>
          <a:p>
            <a:pPr marL="0" indent="0">
              <a:buNone/>
            </a:pPr>
            <a:r>
              <a:rPr lang="tr-TR" sz="3200" dirty="0">
                <a:latin typeface="gdsherpa"/>
              </a:rPr>
              <a:t>	Kablosuz ağ güvenliği, kablosuz iletişim kurulan ortamlarda iletilen verilerin kötü niyetli kişilerce ele geçirilmesini önlemek için alınan önlemlerin bütünüdür.</a:t>
            </a:r>
            <a:endParaRPr lang="tr-TR" sz="3200" dirty="0"/>
          </a:p>
        </p:txBody>
      </p:sp>
      <p:pic>
        <p:nvPicPr>
          <p:cNvPr id="6" name="Resim 5">
            <a:extLst>
              <a:ext uri="{FF2B5EF4-FFF2-40B4-BE49-F238E27FC236}">
                <a16:creationId xmlns:a16="http://schemas.microsoft.com/office/drawing/2014/main" id="{9939B932-0B63-4359-ACCC-5FA470C08C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36903" y="2505356"/>
            <a:ext cx="3793031" cy="2843884"/>
          </a:xfrm>
          <a:prstGeom prst="rect">
            <a:avLst/>
          </a:prstGeom>
        </p:spPr>
      </p:pic>
    </p:spTree>
    <p:extLst>
      <p:ext uri="{BB962C8B-B14F-4D97-AF65-F5344CB8AC3E}">
        <p14:creationId xmlns:p14="http://schemas.microsoft.com/office/powerpoint/2010/main" val="6499756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44C88AC-A324-4BA8-B462-76AB199E4A47}"/>
              </a:ext>
            </a:extLst>
          </p:cNvPr>
          <p:cNvSpPr>
            <a:spLocks noGrp="1"/>
          </p:cNvSpPr>
          <p:nvPr>
            <p:ph type="title"/>
          </p:nvPr>
        </p:nvSpPr>
        <p:spPr>
          <a:xfrm>
            <a:off x="350520" y="589165"/>
            <a:ext cx="11841480" cy="970450"/>
          </a:xfrm>
        </p:spPr>
        <p:txBody>
          <a:bodyPr/>
          <a:lstStyle/>
          <a:p>
            <a:r>
              <a:rPr lang="tr-TR" sz="6600" dirty="0"/>
              <a:t>WEB UYGULAMA GÜVENLİĞİ</a:t>
            </a:r>
          </a:p>
        </p:txBody>
      </p:sp>
      <p:pic>
        <p:nvPicPr>
          <p:cNvPr id="5" name="İçerik Yer Tutucusu 4">
            <a:extLst>
              <a:ext uri="{FF2B5EF4-FFF2-40B4-BE49-F238E27FC236}">
                <a16:creationId xmlns:a16="http://schemas.microsoft.com/office/drawing/2014/main" id="{2F6DD6A8-AE3A-4600-8CE9-05C91F1B2AD9}"/>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1939877" y="2033270"/>
            <a:ext cx="8662765" cy="3772895"/>
          </a:xfrm>
        </p:spPr>
      </p:pic>
    </p:spTree>
    <p:extLst>
      <p:ext uri="{BB962C8B-B14F-4D97-AF65-F5344CB8AC3E}">
        <p14:creationId xmlns:p14="http://schemas.microsoft.com/office/powerpoint/2010/main" val="12988000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92BD2D6-D731-4A2E-A7AD-154C40330914}"/>
              </a:ext>
            </a:extLst>
          </p:cNvPr>
          <p:cNvSpPr>
            <a:spLocks noGrp="1"/>
          </p:cNvSpPr>
          <p:nvPr>
            <p:ph type="title"/>
          </p:nvPr>
        </p:nvSpPr>
        <p:spPr>
          <a:xfrm>
            <a:off x="1327020" y="512965"/>
            <a:ext cx="9537960" cy="970450"/>
          </a:xfrm>
        </p:spPr>
        <p:txBody>
          <a:bodyPr/>
          <a:lstStyle/>
          <a:p>
            <a:r>
              <a:rPr lang="tr-TR" sz="6600" dirty="0"/>
              <a:t>VERİTABANI GÜVENLİĞİ</a:t>
            </a:r>
          </a:p>
        </p:txBody>
      </p:sp>
      <p:pic>
        <p:nvPicPr>
          <p:cNvPr id="5" name="İçerik Yer Tutucusu 4">
            <a:extLst>
              <a:ext uri="{FF2B5EF4-FFF2-40B4-BE49-F238E27FC236}">
                <a16:creationId xmlns:a16="http://schemas.microsoft.com/office/drawing/2014/main" id="{09F6A95C-138F-40D3-A20A-B9F1F9EE6479}"/>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6096000" y="2255591"/>
            <a:ext cx="4892040" cy="3155234"/>
          </a:xfrm>
        </p:spPr>
      </p:pic>
      <p:sp>
        <p:nvSpPr>
          <p:cNvPr id="6" name="Metin kutusu 5">
            <a:extLst>
              <a:ext uri="{FF2B5EF4-FFF2-40B4-BE49-F238E27FC236}">
                <a16:creationId xmlns:a16="http://schemas.microsoft.com/office/drawing/2014/main" id="{D1ABD639-0567-4D3D-AE2F-B9EEEA981A2B}"/>
              </a:ext>
            </a:extLst>
          </p:cNvPr>
          <p:cNvSpPr txBox="1"/>
          <p:nvPr/>
        </p:nvSpPr>
        <p:spPr>
          <a:xfrm>
            <a:off x="731520" y="1943830"/>
            <a:ext cx="4526280" cy="4401205"/>
          </a:xfrm>
          <a:prstGeom prst="rect">
            <a:avLst/>
          </a:prstGeom>
          <a:noFill/>
        </p:spPr>
        <p:txBody>
          <a:bodyPr wrap="square" rtlCol="0">
            <a:spAutoFit/>
          </a:bodyPr>
          <a:lstStyle/>
          <a:p>
            <a:r>
              <a:rPr lang="tr-TR" sz="4000" dirty="0">
                <a:latin typeface="arial" panose="020B0604020202020204" pitchFamily="34" charset="0"/>
              </a:rPr>
              <a:t>V</a:t>
            </a:r>
            <a:r>
              <a:rPr lang="tr-TR" sz="4000" b="0" i="0" dirty="0">
                <a:effectLst/>
                <a:latin typeface="arial" panose="020B0604020202020204" pitchFamily="34" charset="0"/>
              </a:rPr>
              <a:t>eri tabanlarının gizliliğini, bütünlüğünü ve erişilebilirliğini saldırılara karşı koruyan alt dala denir.</a:t>
            </a:r>
            <a:endParaRPr lang="tr-TR" sz="4000" dirty="0"/>
          </a:p>
        </p:txBody>
      </p:sp>
    </p:spTree>
    <p:extLst>
      <p:ext uri="{BB962C8B-B14F-4D97-AF65-F5344CB8AC3E}">
        <p14:creationId xmlns:p14="http://schemas.microsoft.com/office/powerpoint/2010/main" val="1873755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08A5FB9-1591-40C1-924D-69E43A941B52}"/>
              </a:ext>
            </a:extLst>
          </p:cNvPr>
          <p:cNvSpPr>
            <a:spLocks noGrp="1"/>
          </p:cNvSpPr>
          <p:nvPr>
            <p:ph type="title"/>
          </p:nvPr>
        </p:nvSpPr>
        <p:spPr>
          <a:xfrm>
            <a:off x="2065533" y="447188"/>
            <a:ext cx="7635240" cy="1036227"/>
          </a:xfrm>
        </p:spPr>
        <p:txBody>
          <a:bodyPr/>
          <a:lstStyle/>
          <a:p>
            <a:r>
              <a:rPr lang="tr-TR" sz="6600" dirty="0"/>
              <a:t>MALWARE ANALİZİ</a:t>
            </a:r>
          </a:p>
        </p:txBody>
      </p:sp>
      <p:pic>
        <p:nvPicPr>
          <p:cNvPr id="5" name="İçerik Yer Tutucusu 4">
            <a:extLst>
              <a:ext uri="{FF2B5EF4-FFF2-40B4-BE49-F238E27FC236}">
                <a16:creationId xmlns:a16="http://schemas.microsoft.com/office/drawing/2014/main" id="{8E1CE27C-5CD9-44EF-AA7E-E941BA26339F}"/>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2691008" y="1855920"/>
            <a:ext cx="6392032" cy="4554892"/>
          </a:xfrm>
        </p:spPr>
      </p:pic>
    </p:spTree>
    <p:extLst>
      <p:ext uri="{BB962C8B-B14F-4D97-AF65-F5344CB8AC3E}">
        <p14:creationId xmlns:p14="http://schemas.microsoft.com/office/powerpoint/2010/main" val="17059486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EFA2A80-1C0F-461E-BD16-D14FD98D8422}"/>
              </a:ext>
            </a:extLst>
          </p:cNvPr>
          <p:cNvSpPr>
            <a:spLocks noGrp="1"/>
          </p:cNvSpPr>
          <p:nvPr>
            <p:ph type="title"/>
          </p:nvPr>
        </p:nvSpPr>
        <p:spPr>
          <a:xfrm>
            <a:off x="1145280" y="512965"/>
            <a:ext cx="10571998" cy="970450"/>
          </a:xfrm>
        </p:spPr>
        <p:txBody>
          <a:bodyPr/>
          <a:lstStyle/>
          <a:p>
            <a:r>
              <a:rPr lang="tr-TR" sz="6600" dirty="0"/>
              <a:t>ADLİ BİLİŞİM(FORENSIC)</a:t>
            </a:r>
          </a:p>
        </p:txBody>
      </p:sp>
      <p:sp>
        <p:nvSpPr>
          <p:cNvPr id="3" name="İçerik Yer Tutucusu 2">
            <a:extLst>
              <a:ext uri="{FF2B5EF4-FFF2-40B4-BE49-F238E27FC236}">
                <a16:creationId xmlns:a16="http://schemas.microsoft.com/office/drawing/2014/main" id="{95F17335-8982-46F1-8A6B-6C8B1FB6EB5F}"/>
              </a:ext>
            </a:extLst>
          </p:cNvPr>
          <p:cNvSpPr>
            <a:spLocks noGrp="1"/>
          </p:cNvSpPr>
          <p:nvPr>
            <p:ph sz="quarter" idx="13"/>
          </p:nvPr>
        </p:nvSpPr>
        <p:spPr>
          <a:xfrm>
            <a:off x="655320" y="2444396"/>
            <a:ext cx="10394707" cy="3311189"/>
          </a:xfrm>
        </p:spPr>
        <p:txBody>
          <a:bodyPr>
            <a:noAutofit/>
          </a:bodyPr>
          <a:lstStyle/>
          <a:p>
            <a:pPr algn="l"/>
            <a:r>
              <a:rPr lang="tr-TR" sz="2400" b="1" i="0" dirty="0">
                <a:solidFill>
                  <a:schemeClr val="tx2"/>
                </a:solidFill>
                <a:effectLst/>
                <a:latin typeface="Flama Bold"/>
              </a:rPr>
              <a:t>Adli bilişim</a:t>
            </a:r>
            <a:r>
              <a:rPr lang="tr-TR" sz="2400" b="0" i="0" dirty="0">
                <a:solidFill>
                  <a:schemeClr val="tx2"/>
                </a:solidFill>
                <a:effectLst/>
                <a:latin typeface="Flama Basic"/>
              </a:rPr>
              <a:t>, </a:t>
            </a:r>
            <a:r>
              <a:rPr lang="tr-TR" sz="2400" b="0" i="0" dirty="0">
                <a:solidFill>
                  <a:schemeClr val="tx2"/>
                </a:solidFill>
                <a:effectLst/>
                <a:latin typeface="Flama Basic"/>
                <a:hlinkClick r:id="rId2">
                  <a:extLst>
                    <a:ext uri="{A12FA001-AC4F-418D-AE19-62706E023703}">
                      <ahyp:hlinkClr xmlns:ahyp="http://schemas.microsoft.com/office/drawing/2018/hyperlinkcolor" val="tx"/>
                    </a:ext>
                  </a:extLst>
                </a:hlinkClick>
              </a:rPr>
              <a:t>siber suçla</a:t>
            </a:r>
            <a:r>
              <a:rPr lang="tr-TR" sz="2400" b="0" i="0" dirty="0">
                <a:solidFill>
                  <a:schemeClr val="tx2"/>
                </a:solidFill>
                <a:effectLst/>
                <a:latin typeface="Flama Basic"/>
              </a:rPr>
              <a:t>rla ilgili elektronik cihazlarda bulunan verilerin gerektiğinde mahkemelerde delil olarak kabul edilecek şekilde kurtarılmasına ve araştırılmasına odaklanan bir belgeleme sürecidir.</a:t>
            </a:r>
          </a:p>
          <a:p>
            <a:pPr algn="l"/>
            <a:r>
              <a:rPr lang="tr-TR" sz="2400" b="0" i="0" dirty="0">
                <a:solidFill>
                  <a:schemeClr val="tx2"/>
                </a:solidFill>
                <a:effectLst/>
                <a:latin typeface="Flama Basic"/>
              </a:rPr>
              <a:t>Yukarıda belirtilen elektronik cihazlar arasında; bilgisayarlar, ağ, bulut, sabit sürücü, sunucu, telefon veya altyapıya bağlı herhangi bir uç nokta sistemi bulunur. Bu süreç ayrıca, e-</a:t>
            </a:r>
            <a:r>
              <a:rPr lang="tr-TR" sz="2400" b="0" i="0" dirty="0" err="1">
                <a:solidFill>
                  <a:schemeClr val="tx2"/>
                </a:solidFill>
                <a:effectLst/>
                <a:latin typeface="Flama Basic"/>
              </a:rPr>
              <a:t>posta’lardan</a:t>
            </a:r>
            <a:r>
              <a:rPr lang="tr-TR" sz="2400" b="0" i="0" dirty="0">
                <a:solidFill>
                  <a:schemeClr val="tx2"/>
                </a:solidFill>
                <a:effectLst/>
                <a:latin typeface="Flama Basic"/>
              </a:rPr>
              <a:t>, </a:t>
            </a:r>
            <a:r>
              <a:rPr lang="tr-TR" sz="2400" b="0" i="0" dirty="0" err="1">
                <a:solidFill>
                  <a:schemeClr val="tx2"/>
                </a:solidFill>
                <a:effectLst/>
                <a:latin typeface="Flama Basic"/>
              </a:rPr>
              <a:t>SMS'lerden</a:t>
            </a:r>
            <a:r>
              <a:rPr lang="tr-TR" sz="2400" b="0" i="0" dirty="0">
                <a:solidFill>
                  <a:schemeClr val="tx2"/>
                </a:solidFill>
                <a:effectLst/>
                <a:latin typeface="Flama Basic"/>
              </a:rPr>
              <a:t>, görüntülerden, silinen dosyalardan ve çok daha fazlasından bilgi toplamayı içerir.</a:t>
            </a:r>
          </a:p>
          <a:p>
            <a:pPr algn="l"/>
            <a:r>
              <a:rPr lang="tr-TR" sz="2400" b="0" i="0" dirty="0">
                <a:solidFill>
                  <a:schemeClr val="tx2"/>
                </a:solidFill>
                <a:effectLst/>
                <a:latin typeface="Flama Basic"/>
              </a:rPr>
              <a:t>Herhangi bir siber suç durumunda, </a:t>
            </a:r>
            <a:r>
              <a:rPr lang="tr-TR" sz="2400" b="1" i="0" dirty="0">
                <a:solidFill>
                  <a:schemeClr val="tx2"/>
                </a:solidFill>
                <a:effectLst/>
                <a:latin typeface="Flama Bold"/>
              </a:rPr>
              <a:t>adli bilişim uzmanı,</a:t>
            </a:r>
            <a:r>
              <a:rPr lang="tr-TR" sz="2400" b="0" i="0" dirty="0">
                <a:solidFill>
                  <a:schemeClr val="tx2"/>
                </a:solidFill>
                <a:effectLst/>
                <a:latin typeface="Flama Basic"/>
              </a:rPr>
              <a:t> </a:t>
            </a:r>
            <a:r>
              <a:rPr lang="tr-TR" sz="2400" b="1" i="0" dirty="0" err="1">
                <a:solidFill>
                  <a:schemeClr val="tx2"/>
                </a:solidFill>
                <a:effectLst/>
                <a:latin typeface="Flama Bold"/>
              </a:rPr>
              <a:t>hacker</a:t>
            </a:r>
            <a:r>
              <a:rPr lang="tr-TR" sz="2400" b="0" i="0" dirty="0" err="1">
                <a:solidFill>
                  <a:schemeClr val="tx2"/>
                </a:solidFill>
                <a:effectLst/>
                <a:latin typeface="Flama Basic"/>
              </a:rPr>
              <a:t>’ın</a:t>
            </a:r>
            <a:r>
              <a:rPr lang="tr-TR" sz="2400" b="0" i="0" dirty="0">
                <a:solidFill>
                  <a:schemeClr val="tx2"/>
                </a:solidFill>
                <a:effectLst/>
                <a:latin typeface="Flama Basic"/>
              </a:rPr>
              <a:t> bulunmasına yardımcı olacak yeterli kanıtı toplamak için dijital cihazları ve dijital verileri analiz eder.</a:t>
            </a:r>
          </a:p>
        </p:txBody>
      </p:sp>
    </p:spTree>
    <p:extLst>
      <p:ext uri="{BB962C8B-B14F-4D97-AF65-F5344CB8AC3E}">
        <p14:creationId xmlns:p14="http://schemas.microsoft.com/office/powerpoint/2010/main" val="41602972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368A5F3-82BD-4D52-A14B-FC41B687F8A1}"/>
              </a:ext>
            </a:extLst>
          </p:cNvPr>
          <p:cNvSpPr>
            <a:spLocks noGrp="1"/>
          </p:cNvSpPr>
          <p:nvPr>
            <p:ph type="title"/>
          </p:nvPr>
        </p:nvSpPr>
        <p:spPr>
          <a:xfrm>
            <a:off x="1076073" y="386228"/>
            <a:ext cx="9614160" cy="970450"/>
          </a:xfrm>
        </p:spPr>
        <p:txBody>
          <a:bodyPr/>
          <a:lstStyle/>
          <a:p>
            <a:r>
              <a:rPr lang="tr-TR" sz="6600" dirty="0"/>
              <a:t>ADLİ BİLİŞİM(FORENSIC)</a:t>
            </a:r>
          </a:p>
        </p:txBody>
      </p:sp>
      <p:pic>
        <p:nvPicPr>
          <p:cNvPr id="5" name="İçerik Yer Tutucusu 4">
            <a:extLst>
              <a:ext uri="{FF2B5EF4-FFF2-40B4-BE49-F238E27FC236}">
                <a16:creationId xmlns:a16="http://schemas.microsoft.com/office/drawing/2014/main" id="{E3E262F4-1861-4CAF-8EDF-699E155EC11B}"/>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2087007" y="1758950"/>
            <a:ext cx="8017985" cy="4510117"/>
          </a:xfrm>
        </p:spPr>
      </p:pic>
    </p:spTree>
    <p:extLst>
      <p:ext uri="{BB962C8B-B14F-4D97-AF65-F5344CB8AC3E}">
        <p14:creationId xmlns:p14="http://schemas.microsoft.com/office/powerpoint/2010/main" val="38295372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8546506-08BA-45B0-B4BE-59A0A89715E9}"/>
              </a:ext>
            </a:extLst>
          </p:cNvPr>
          <p:cNvSpPr>
            <a:spLocks noGrp="1"/>
          </p:cNvSpPr>
          <p:nvPr>
            <p:ph type="title"/>
          </p:nvPr>
        </p:nvSpPr>
        <p:spPr>
          <a:xfrm>
            <a:off x="606360" y="512965"/>
            <a:ext cx="10979280" cy="970450"/>
          </a:xfrm>
        </p:spPr>
        <p:txBody>
          <a:bodyPr/>
          <a:lstStyle/>
          <a:p>
            <a:r>
              <a:rPr lang="tr-TR" sz="6000" dirty="0"/>
              <a:t>SİBER TEHDİT İSTİHBARATI (CTI)</a:t>
            </a:r>
          </a:p>
        </p:txBody>
      </p:sp>
      <p:pic>
        <p:nvPicPr>
          <p:cNvPr id="5" name="İçerik Yer Tutucusu 4">
            <a:extLst>
              <a:ext uri="{FF2B5EF4-FFF2-40B4-BE49-F238E27FC236}">
                <a16:creationId xmlns:a16="http://schemas.microsoft.com/office/drawing/2014/main" id="{C6D9D969-2F40-46EE-8C30-DD5A150B4DB3}"/>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2851256" y="1783080"/>
            <a:ext cx="6489488" cy="4736307"/>
          </a:xfrm>
        </p:spPr>
      </p:pic>
    </p:spTree>
    <p:extLst>
      <p:ext uri="{BB962C8B-B14F-4D97-AF65-F5344CB8AC3E}">
        <p14:creationId xmlns:p14="http://schemas.microsoft.com/office/powerpoint/2010/main" val="14499065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932CEC6-3E7F-4109-BE85-FC81F23A92B6}"/>
              </a:ext>
            </a:extLst>
          </p:cNvPr>
          <p:cNvSpPr>
            <a:spLocks noGrp="1"/>
          </p:cNvSpPr>
          <p:nvPr>
            <p:ph type="title"/>
          </p:nvPr>
        </p:nvSpPr>
        <p:spPr>
          <a:xfrm>
            <a:off x="1868554" y="512965"/>
            <a:ext cx="8029198" cy="970450"/>
          </a:xfrm>
        </p:spPr>
        <p:txBody>
          <a:bodyPr/>
          <a:lstStyle/>
          <a:p>
            <a:r>
              <a:rPr lang="tr-TR" sz="6600" dirty="0"/>
              <a:t>EXPLOIT GELİŞTİRME</a:t>
            </a:r>
          </a:p>
        </p:txBody>
      </p:sp>
      <p:sp>
        <p:nvSpPr>
          <p:cNvPr id="3" name="İçerik Yer Tutucusu 2">
            <a:extLst>
              <a:ext uri="{FF2B5EF4-FFF2-40B4-BE49-F238E27FC236}">
                <a16:creationId xmlns:a16="http://schemas.microsoft.com/office/drawing/2014/main" id="{EF494826-8F4D-425E-8EEC-AA63302BF635}"/>
              </a:ext>
            </a:extLst>
          </p:cNvPr>
          <p:cNvSpPr>
            <a:spLocks noGrp="1"/>
          </p:cNvSpPr>
          <p:nvPr>
            <p:ph sz="quarter" idx="13"/>
          </p:nvPr>
        </p:nvSpPr>
        <p:spPr>
          <a:xfrm>
            <a:off x="612317" y="2374084"/>
            <a:ext cx="6504763" cy="3556094"/>
          </a:xfrm>
        </p:spPr>
        <p:txBody>
          <a:bodyPr>
            <a:normAutofit fontScale="92500"/>
          </a:bodyPr>
          <a:lstStyle/>
          <a:p>
            <a:pPr marL="0" indent="0">
              <a:buNone/>
            </a:pPr>
            <a:r>
              <a:rPr lang="tr-TR" b="1" dirty="0"/>
              <a:t> </a:t>
            </a:r>
            <a:r>
              <a:rPr lang="tr-TR" sz="3200" b="1" dirty="0"/>
              <a:t>Zafiyet: </a:t>
            </a:r>
            <a:r>
              <a:rPr lang="tr-TR" sz="3200" dirty="0"/>
              <a:t>Sistemde bulunan istismar edilebilen zayıflığa denir.</a:t>
            </a:r>
          </a:p>
          <a:p>
            <a:pPr marL="0" indent="0">
              <a:buNone/>
            </a:pPr>
            <a:endParaRPr lang="tr-TR" sz="3200" dirty="0"/>
          </a:p>
          <a:p>
            <a:pPr marL="0" indent="0">
              <a:buNone/>
            </a:pPr>
            <a:r>
              <a:rPr lang="tr-TR" sz="3200" b="1" dirty="0" err="1"/>
              <a:t>Exploit</a:t>
            </a:r>
            <a:r>
              <a:rPr lang="tr-TR" sz="3200" b="1" dirty="0"/>
              <a:t>: </a:t>
            </a:r>
            <a:r>
              <a:rPr lang="tr-TR" sz="3200" dirty="0"/>
              <a:t>Bulunan zafiyetin sömürülmesi için geliştirilen metotlara denir.</a:t>
            </a:r>
          </a:p>
          <a:p>
            <a:pPr marL="0" indent="0">
              <a:buNone/>
            </a:pPr>
            <a:endParaRPr lang="tr-TR" sz="3200" dirty="0"/>
          </a:p>
        </p:txBody>
      </p:sp>
      <p:pic>
        <p:nvPicPr>
          <p:cNvPr id="5" name="Resim 4">
            <a:extLst>
              <a:ext uri="{FF2B5EF4-FFF2-40B4-BE49-F238E27FC236}">
                <a16:creationId xmlns:a16="http://schemas.microsoft.com/office/drawing/2014/main" id="{3A5E12FF-B715-4F30-8C07-826AF120AB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91400" y="2213611"/>
            <a:ext cx="4188283" cy="3013709"/>
          </a:xfrm>
          <a:prstGeom prst="rect">
            <a:avLst/>
          </a:prstGeom>
        </p:spPr>
      </p:pic>
    </p:spTree>
    <p:extLst>
      <p:ext uri="{BB962C8B-B14F-4D97-AF65-F5344CB8AC3E}">
        <p14:creationId xmlns:p14="http://schemas.microsoft.com/office/powerpoint/2010/main" val="13621809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085447A-CA4A-42E0-B8E1-CDF33DFE0504}"/>
              </a:ext>
            </a:extLst>
          </p:cNvPr>
          <p:cNvSpPr>
            <a:spLocks noGrp="1"/>
          </p:cNvSpPr>
          <p:nvPr>
            <p:ph type="title"/>
          </p:nvPr>
        </p:nvSpPr>
        <p:spPr>
          <a:xfrm>
            <a:off x="1540893" y="512965"/>
            <a:ext cx="8684520" cy="970450"/>
          </a:xfrm>
        </p:spPr>
        <p:txBody>
          <a:bodyPr/>
          <a:lstStyle/>
          <a:p>
            <a:r>
              <a:rPr lang="tr-TR" sz="6600" dirty="0"/>
              <a:t>PENTEST (SIZMA TESTİ)</a:t>
            </a:r>
          </a:p>
        </p:txBody>
      </p:sp>
      <p:sp>
        <p:nvSpPr>
          <p:cNvPr id="3" name="İçerik Yer Tutucusu 2">
            <a:extLst>
              <a:ext uri="{FF2B5EF4-FFF2-40B4-BE49-F238E27FC236}">
                <a16:creationId xmlns:a16="http://schemas.microsoft.com/office/drawing/2014/main" id="{DA98E802-571F-4192-8060-EE210FE4CAA1}"/>
              </a:ext>
            </a:extLst>
          </p:cNvPr>
          <p:cNvSpPr>
            <a:spLocks noGrp="1"/>
          </p:cNvSpPr>
          <p:nvPr>
            <p:ph sz="quarter" idx="13"/>
          </p:nvPr>
        </p:nvSpPr>
        <p:spPr/>
        <p:txBody>
          <a:bodyPr>
            <a:noAutofit/>
          </a:bodyPr>
          <a:lstStyle/>
          <a:p>
            <a:r>
              <a:rPr lang="tr-TR" sz="2800" b="0" i="0" dirty="0">
                <a:solidFill>
                  <a:schemeClr val="tx2"/>
                </a:solidFill>
                <a:effectLst/>
                <a:latin typeface="Blogger Sans"/>
              </a:rPr>
              <a:t>Sızma testlerinde siber suçluların gerçek dünyada kullandığı yöntemler kullanılarak bir kurumun bilişim altyapısına sızılmaya ve ele geçirilmeye çalışılır. Böylelikle </a:t>
            </a:r>
            <a:r>
              <a:rPr lang="tr-TR" sz="2800" b="0" i="0" dirty="0" err="1">
                <a:solidFill>
                  <a:schemeClr val="tx2"/>
                </a:solidFill>
                <a:effectLst/>
                <a:latin typeface="Blogger Sans"/>
              </a:rPr>
              <a:t>penetrasyon</a:t>
            </a:r>
            <a:r>
              <a:rPr lang="tr-TR" sz="2800" b="0" i="0" dirty="0">
                <a:solidFill>
                  <a:schemeClr val="tx2"/>
                </a:solidFill>
                <a:effectLst/>
                <a:latin typeface="Blogger Sans"/>
              </a:rPr>
              <a:t> testi (</a:t>
            </a:r>
            <a:r>
              <a:rPr lang="tr-TR" sz="2800" b="0" i="0" dirty="0" err="1">
                <a:solidFill>
                  <a:schemeClr val="tx2"/>
                </a:solidFill>
                <a:effectLst/>
                <a:latin typeface="Blogger Sans"/>
              </a:rPr>
              <a:t>pentest</a:t>
            </a:r>
            <a:r>
              <a:rPr lang="tr-TR" sz="2800" b="0" i="0" dirty="0">
                <a:solidFill>
                  <a:schemeClr val="tx2"/>
                </a:solidFill>
                <a:effectLst/>
                <a:latin typeface="Blogger Sans"/>
              </a:rPr>
              <a:t>) yapan güvenlikçiler, hacker gibi düşünüp sisteme sızma ve ele geçirme senaryolarını uygulayarak ve saldırganların deneyebileceği tüm yöntemleri deneyerek sistemde buldukları zafiyetleri ilgili kurum veya kuruluşa raporlarlar.</a:t>
            </a:r>
            <a:endParaRPr lang="tr-TR" sz="2800" dirty="0">
              <a:solidFill>
                <a:schemeClr val="tx2"/>
              </a:solidFill>
            </a:endParaRPr>
          </a:p>
        </p:txBody>
      </p:sp>
    </p:spTree>
    <p:extLst>
      <p:ext uri="{BB962C8B-B14F-4D97-AF65-F5344CB8AC3E}">
        <p14:creationId xmlns:p14="http://schemas.microsoft.com/office/powerpoint/2010/main" val="19458492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8A76A86-B697-4096-A2BC-84298D2D724E}"/>
              </a:ext>
            </a:extLst>
          </p:cNvPr>
          <p:cNvSpPr>
            <a:spLocks noGrp="1"/>
          </p:cNvSpPr>
          <p:nvPr>
            <p:ph type="title"/>
          </p:nvPr>
        </p:nvSpPr>
        <p:spPr>
          <a:xfrm>
            <a:off x="152400" y="447188"/>
            <a:ext cx="11871960" cy="970450"/>
          </a:xfrm>
        </p:spPr>
        <p:txBody>
          <a:bodyPr/>
          <a:lstStyle/>
          <a:p>
            <a:r>
              <a:rPr lang="tr-TR" sz="6000" b="1" i="0" dirty="0">
                <a:solidFill>
                  <a:schemeClr val="tx1"/>
                </a:solidFill>
                <a:effectLst/>
                <a:latin typeface="Century Gothic" panose="020B0502020202020204" pitchFamily="34" charset="0"/>
              </a:rPr>
              <a:t>Sızma Testi Yöntemleri Nelerdir?</a:t>
            </a:r>
            <a:endParaRPr lang="tr-TR" sz="6000" dirty="0">
              <a:solidFill>
                <a:schemeClr val="tx1"/>
              </a:solidFill>
              <a:latin typeface="Century Gothic" panose="020B0502020202020204" pitchFamily="34" charset="0"/>
            </a:endParaRPr>
          </a:p>
        </p:txBody>
      </p:sp>
      <p:sp>
        <p:nvSpPr>
          <p:cNvPr id="3" name="İçerik Yer Tutucusu 2">
            <a:extLst>
              <a:ext uri="{FF2B5EF4-FFF2-40B4-BE49-F238E27FC236}">
                <a16:creationId xmlns:a16="http://schemas.microsoft.com/office/drawing/2014/main" id="{3F0378E8-2F30-476C-BE80-DB3636141AC4}"/>
              </a:ext>
            </a:extLst>
          </p:cNvPr>
          <p:cNvSpPr>
            <a:spLocks noGrp="1"/>
          </p:cNvSpPr>
          <p:nvPr>
            <p:ph sz="quarter" idx="13"/>
          </p:nvPr>
        </p:nvSpPr>
        <p:spPr>
          <a:xfrm>
            <a:off x="685800" y="2063396"/>
            <a:ext cx="11109960" cy="4047844"/>
          </a:xfrm>
        </p:spPr>
        <p:txBody>
          <a:bodyPr>
            <a:normAutofit/>
          </a:bodyPr>
          <a:lstStyle/>
          <a:p>
            <a:pPr marL="0" indent="0">
              <a:buNone/>
            </a:pPr>
            <a:r>
              <a:rPr lang="tr-TR" sz="2800" b="1" i="0" dirty="0" err="1">
                <a:effectLst/>
                <a:latin typeface="Blogger Sans"/>
              </a:rPr>
              <a:t>Blackbox</a:t>
            </a:r>
            <a:r>
              <a:rPr lang="tr-TR" sz="2800" i="0" dirty="0">
                <a:effectLst/>
                <a:latin typeface="Blogger Sans"/>
              </a:rPr>
              <a:t>:  Sızma </a:t>
            </a:r>
            <a:r>
              <a:rPr lang="tr-TR" sz="2800" dirty="0">
                <a:latin typeface="Blogger Sans"/>
              </a:rPr>
              <a:t>Testi </a:t>
            </a:r>
            <a:r>
              <a:rPr lang="tr-TR" sz="2800" b="0" i="0" dirty="0">
                <a:effectLst/>
                <a:latin typeface="Blogger Sans"/>
              </a:rPr>
              <a:t>Uzmanı’ </a:t>
            </a:r>
            <a:r>
              <a:rPr lang="tr-TR" sz="2800" b="0" i="0" dirty="0" err="1">
                <a:effectLst/>
                <a:latin typeface="Blogger Sans"/>
              </a:rPr>
              <a:t>na</a:t>
            </a:r>
            <a:r>
              <a:rPr lang="tr-TR" sz="2800" b="0" i="0" dirty="0">
                <a:effectLst/>
                <a:latin typeface="Blogger Sans"/>
              </a:rPr>
              <a:t> sızma testinin gerçekleştirileceği yapı ve sistemle ilgili önceden herhangi bir bilgi verilmez.</a:t>
            </a:r>
          </a:p>
          <a:p>
            <a:pPr marL="0" indent="0">
              <a:buNone/>
            </a:pPr>
            <a:br>
              <a:rPr lang="tr-TR" sz="2800" dirty="0"/>
            </a:br>
            <a:r>
              <a:rPr lang="tr-TR" sz="2800" b="1" i="0" dirty="0" err="1">
                <a:effectLst/>
                <a:latin typeface="Blogger Sans"/>
              </a:rPr>
              <a:t>Whitebox</a:t>
            </a:r>
            <a:r>
              <a:rPr lang="tr-TR" sz="2800" b="1" i="0" dirty="0">
                <a:effectLst/>
                <a:latin typeface="Blogger Sans"/>
              </a:rPr>
              <a:t>: </a:t>
            </a:r>
            <a:r>
              <a:rPr lang="tr-TR" sz="2800" i="0" dirty="0">
                <a:effectLst/>
                <a:latin typeface="Blogger Sans"/>
              </a:rPr>
              <a:t>Sızma Testi </a:t>
            </a:r>
            <a:r>
              <a:rPr lang="tr-TR" sz="2800" b="0" i="0" dirty="0">
                <a:effectLst/>
                <a:latin typeface="Blogger Sans"/>
              </a:rPr>
              <a:t>Uzmanı’ </a:t>
            </a:r>
            <a:r>
              <a:rPr lang="tr-TR" sz="2800" b="0" i="0" dirty="0" err="1">
                <a:effectLst/>
                <a:latin typeface="Blogger Sans"/>
              </a:rPr>
              <a:t>na</a:t>
            </a:r>
            <a:r>
              <a:rPr lang="tr-TR" sz="2800" b="0" i="0" dirty="0">
                <a:effectLst/>
                <a:latin typeface="Blogger Sans"/>
              </a:rPr>
              <a:t> firma/kurum içindeki tüm yapı ve sistem hakkında bilgi verilir.</a:t>
            </a:r>
          </a:p>
          <a:p>
            <a:pPr marL="0" indent="0">
              <a:buNone/>
            </a:pPr>
            <a:br>
              <a:rPr lang="tr-TR" sz="2800" dirty="0"/>
            </a:br>
            <a:r>
              <a:rPr lang="tr-TR" sz="2800" b="1" i="0" dirty="0" err="1">
                <a:effectLst/>
                <a:latin typeface="Blogger Sans"/>
              </a:rPr>
              <a:t>Graybox</a:t>
            </a:r>
            <a:r>
              <a:rPr lang="tr-TR" sz="2800" b="1" i="0" dirty="0">
                <a:effectLst/>
                <a:latin typeface="Blogger Sans"/>
              </a:rPr>
              <a:t>: </a:t>
            </a:r>
            <a:r>
              <a:rPr lang="tr-TR" sz="2800" b="0" i="0" dirty="0">
                <a:effectLst/>
                <a:latin typeface="Blogger Sans"/>
              </a:rPr>
              <a:t>‘</a:t>
            </a:r>
            <a:r>
              <a:rPr lang="tr-TR" sz="2800" b="0" i="0" dirty="0" err="1">
                <a:effectLst/>
                <a:latin typeface="Blogger Sans"/>
              </a:rPr>
              <a:t>Whitebox</a:t>
            </a:r>
            <a:r>
              <a:rPr lang="tr-TR" sz="2800" b="0" i="0" dirty="0">
                <a:effectLst/>
                <a:latin typeface="Blogger Sans"/>
              </a:rPr>
              <a:t>’ ile ‘</a:t>
            </a:r>
            <a:r>
              <a:rPr lang="tr-TR" sz="2800" b="0" i="0" dirty="0" err="1">
                <a:effectLst/>
                <a:latin typeface="Blogger Sans"/>
              </a:rPr>
              <a:t>Blackbox</a:t>
            </a:r>
            <a:r>
              <a:rPr lang="tr-TR" sz="2800" b="0" i="0" dirty="0">
                <a:effectLst/>
                <a:latin typeface="Blogger Sans"/>
              </a:rPr>
              <a:t>’ arasında olan bir sızma testi yöntemidir. Sızma Testi </a:t>
            </a:r>
            <a:r>
              <a:rPr lang="tr-TR" sz="2800" b="0" i="0" dirty="0" err="1">
                <a:effectLst/>
                <a:latin typeface="Blogger Sans"/>
              </a:rPr>
              <a:t>Uzmanı’na</a:t>
            </a:r>
            <a:r>
              <a:rPr lang="tr-TR" sz="2800" b="0" i="0" dirty="0">
                <a:effectLst/>
                <a:latin typeface="Blogger Sans"/>
              </a:rPr>
              <a:t> yapı </a:t>
            </a:r>
            <a:r>
              <a:rPr lang="tr-TR" sz="2800" dirty="0">
                <a:latin typeface="Blogger Sans"/>
              </a:rPr>
              <a:t>ve </a:t>
            </a:r>
            <a:r>
              <a:rPr lang="tr-TR" sz="2800" b="0" i="0" dirty="0">
                <a:effectLst/>
                <a:latin typeface="Blogger Sans"/>
              </a:rPr>
              <a:t>sistemler hakkında ‘detaylı’ bilgi verilmez.</a:t>
            </a:r>
            <a:endParaRPr lang="tr-TR" sz="2800" dirty="0"/>
          </a:p>
        </p:txBody>
      </p:sp>
    </p:spTree>
    <p:extLst>
      <p:ext uri="{BB962C8B-B14F-4D97-AF65-F5344CB8AC3E}">
        <p14:creationId xmlns:p14="http://schemas.microsoft.com/office/powerpoint/2010/main" val="10749961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7BFC14A-6919-49B0-AEAC-A696EB66D036}"/>
              </a:ext>
            </a:extLst>
          </p:cNvPr>
          <p:cNvSpPr>
            <a:spLocks noGrp="1"/>
          </p:cNvSpPr>
          <p:nvPr>
            <p:ph type="title"/>
          </p:nvPr>
        </p:nvSpPr>
        <p:spPr>
          <a:xfrm>
            <a:off x="3750181" y="512965"/>
            <a:ext cx="4691638" cy="970450"/>
          </a:xfrm>
        </p:spPr>
        <p:txBody>
          <a:bodyPr/>
          <a:lstStyle/>
          <a:p>
            <a:r>
              <a:rPr lang="tr-TR" sz="6600" dirty="0"/>
              <a:t>KRİPTOLOJİ</a:t>
            </a:r>
          </a:p>
        </p:txBody>
      </p:sp>
      <p:sp>
        <p:nvSpPr>
          <p:cNvPr id="3" name="İçerik Yer Tutucusu 2">
            <a:extLst>
              <a:ext uri="{FF2B5EF4-FFF2-40B4-BE49-F238E27FC236}">
                <a16:creationId xmlns:a16="http://schemas.microsoft.com/office/drawing/2014/main" id="{41011B5D-1CA8-4F5E-A8B5-C15D0453E182}"/>
              </a:ext>
            </a:extLst>
          </p:cNvPr>
          <p:cNvSpPr>
            <a:spLocks noGrp="1"/>
          </p:cNvSpPr>
          <p:nvPr>
            <p:ph sz="quarter" idx="13"/>
          </p:nvPr>
        </p:nvSpPr>
        <p:spPr/>
        <p:txBody>
          <a:bodyPr>
            <a:noAutofit/>
          </a:bodyPr>
          <a:lstStyle/>
          <a:p>
            <a:r>
              <a:rPr lang="tr-TR" sz="2400" b="0" i="0" dirty="0">
                <a:effectLst/>
                <a:latin typeface="-apple-system"/>
              </a:rPr>
              <a:t>Bireyler veya kurumsallar kendi bilgilerinin izinsiz olarak başka yerlerde dolaşmasını asla istemez. İnsanlar günümüzde bazı uygulamalar sayesinde çok basit bir mesajı dahi çeşitli şifrelemeler kullanarak göndermektedir. Kişisel hesapların yanı sıra büyük şirketler için bilgi güvenliği çok önemlidir. Bu alanda </a:t>
            </a:r>
            <a:r>
              <a:rPr lang="tr-TR" sz="2400" b="1" i="0" dirty="0">
                <a:effectLst/>
                <a:latin typeface="-apple-system"/>
              </a:rPr>
              <a:t>Kriptoloji</a:t>
            </a:r>
            <a:r>
              <a:rPr lang="tr-TR" sz="2400" b="0" i="0" dirty="0">
                <a:effectLst/>
                <a:latin typeface="-apple-system"/>
              </a:rPr>
              <a:t> devreye girerek şirketlerin ihtiyaçlarına çözüm olmaktadır. Özel ve kamu kurumlarının bu sistemleri kullanmasıyla birlikte iyi bir durum ortaya çıkabiliyor. Son derece gizli olan bilgilerin hiç kimseye ulaşmasını asla istemezsiniz. Özel olarak geliştirilmiş şifre bilimi sayesinde bu tür durumlara karşı önlemler alınabiliyor.</a:t>
            </a:r>
            <a:endParaRPr lang="tr-TR" sz="2400" dirty="0"/>
          </a:p>
        </p:txBody>
      </p:sp>
    </p:spTree>
    <p:extLst>
      <p:ext uri="{BB962C8B-B14F-4D97-AF65-F5344CB8AC3E}">
        <p14:creationId xmlns:p14="http://schemas.microsoft.com/office/powerpoint/2010/main" val="33779602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3F99397-EF39-431F-B289-2AE3A350B7B4}"/>
              </a:ext>
            </a:extLst>
          </p:cNvPr>
          <p:cNvSpPr>
            <a:spLocks noGrp="1"/>
          </p:cNvSpPr>
          <p:nvPr>
            <p:ph type="title"/>
          </p:nvPr>
        </p:nvSpPr>
        <p:spPr>
          <a:xfrm>
            <a:off x="678556" y="354909"/>
            <a:ext cx="10571998" cy="970450"/>
          </a:xfrm>
        </p:spPr>
        <p:txBody>
          <a:bodyPr/>
          <a:lstStyle/>
          <a:p>
            <a:pPr algn="ctr"/>
            <a:r>
              <a:rPr lang="tr-TR" sz="6000" dirty="0"/>
              <a:t>KRİPTOLOJİ</a:t>
            </a:r>
          </a:p>
        </p:txBody>
      </p:sp>
      <p:pic>
        <p:nvPicPr>
          <p:cNvPr id="1026" name="Picture 2">
            <a:extLst>
              <a:ext uri="{FF2B5EF4-FFF2-40B4-BE49-F238E27FC236}">
                <a16:creationId xmlns:a16="http://schemas.microsoft.com/office/drawing/2014/main" id="{1ACA3220-366D-466F-8E0B-DE3D9912230C}"/>
              </a:ext>
            </a:extLst>
          </p:cNvPr>
          <p:cNvPicPr>
            <a:picLocks noGrp="1" noChangeAspect="1" noChangeArrowheads="1"/>
          </p:cNvPicPr>
          <p:nvPr>
            <p:ph sz="quarter" idx="13"/>
          </p:nvPr>
        </p:nvPicPr>
        <p:blipFill>
          <a:blip r:embed="rId2">
            <a:extLst>
              <a:ext uri="{28A0092B-C50C-407E-A947-70E740481C1C}">
                <a14:useLocalDpi xmlns:a14="http://schemas.microsoft.com/office/drawing/2010/main" val="0"/>
              </a:ext>
            </a:extLst>
          </a:blip>
          <a:srcRect/>
          <a:stretch>
            <a:fillRect/>
          </a:stretch>
        </p:blipFill>
        <p:spPr bwMode="auto">
          <a:xfrm>
            <a:off x="2159240" y="1531579"/>
            <a:ext cx="7610630" cy="48792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71579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87ACFD1-3877-46E4-934C-B5286D4358D8}"/>
              </a:ext>
            </a:extLst>
          </p:cNvPr>
          <p:cNvSpPr>
            <a:spLocks noGrp="1"/>
          </p:cNvSpPr>
          <p:nvPr>
            <p:ph type="title"/>
          </p:nvPr>
        </p:nvSpPr>
        <p:spPr>
          <a:xfrm>
            <a:off x="1982341" y="619645"/>
            <a:ext cx="8227318" cy="970450"/>
          </a:xfrm>
        </p:spPr>
        <p:txBody>
          <a:bodyPr/>
          <a:lstStyle/>
          <a:p>
            <a:r>
              <a:rPr lang="tr-TR" sz="8800" dirty="0"/>
              <a:t>CTF Metodoloji</a:t>
            </a:r>
          </a:p>
        </p:txBody>
      </p:sp>
      <p:sp>
        <p:nvSpPr>
          <p:cNvPr id="3" name="İçerik Yer Tutucusu 2">
            <a:extLst>
              <a:ext uri="{FF2B5EF4-FFF2-40B4-BE49-F238E27FC236}">
                <a16:creationId xmlns:a16="http://schemas.microsoft.com/office/drawing/2014/main" id="{A51DEF0F-CF59-4B8C-80B1-F98EEFCD291A}"/>
              </a:ext>
            </a:extLst>
          </p:cNvPr>
          <p:cNvSpPr>
            <a:spLocks noGrp="1"/>
          </p:cNvSpPr>
          <p:nvPr>
            <p:ph sz="quarter" idx="13"/>
          </p:nvPr>
        </p:nvSpPr>
        <p:spPr/>
        <p:txBody>
          <a:bodyPr>
            <a:noAutofit/>
          </a:bodyPr>
          <a:lstStyle/>
          <a:p>
            <a:pPr marL="0" indent="0">
              <a:buNone/>
            </a:pPr>
            <a:r>
              <a:rPr lang="tr-TR" sz="3600" b="0" i="0" dirty="0">
                <a:effectLst/>
                <a:latin typeface="Blogger Sans"/>
              </a:rPr>
              <a:t>  CTF(</a:t>
            </a:r>
            <a:r>
              <a:rPr lang="tr-TR" sz="3600" b="0" i="0" dirty="0" err="1">
                <a:effectLst/>
                <a:latin typeface="Blogger Sans"/>
              </a:rPr>
              <a:t>Capture</a:t>
            </a:r>
            <a:r>
              <a:rPr lang="tr-TR" sz="3600" b="0" i="0" dirty="0">
                <a:effectLst/>
                <a:latin typeface="Blogger Sans"/>
              </a:rPr>
              <a:t> </a:t>
            </a:r>
            <a:r>
              <a:rPr lang="tr-TR" sz="3600" b="0" i="0" dirty="0" err="1">
                <a:effectLst/>
                <a:latin typeface="Blogger Sans"/>
              </a:rPr>
              <a:t>the</a:t>
            </a:r>
            <a:r>
              <a:rPr lang="tr-TR" sz="3600" b="0" i="0" dirty="0">
                <a:effectLst/>
                <a:latin typeface="Blogger Sans"/>
              </a:rPr>
              <a:t> </a:t>
            </a:r>
            <a:r>
              <a:rPr lang="tr-TR" sz="3600" b="0" i="0" dirty="0" err="1">
                <a:effectLst/>
                <a:latin typeface="Blogger Sans"/>
              </a:rPr>
              <a:t>flag</a:t>
            </a:r>
            <a:r>
              <a:rPr lang="tr-TR" sz="3600" b="0" i="0" dirty="0">
                <a:effectLst/>
                <a:latin typeface="Blogger Sans"/>
              </a:rPr>
              <a:t>), ‘’bayrağı yakala’’ adıyla bilinen siber güvenlik alanında düzenlenen uygulamalı öğretici yarışmalardır. Yarışmaların asıl amacı, </a:t>
            </a:r>
            <a:r>
              <a:rPr lang="tr-TR" sz="3600" b="0" i="0" dirty="0" err="1">
                <a:effectLst/>
                <a:latin typeface="Blogger Sans"/>
              </a:rPr>
              <a:t>hack</a:t>
            </a:r>
            <a:r>
              <a:rPr lang="tr-TR" sz="3600" b="0" i="0" dirty="0">
                <a:effectLst/>
                <a:latin typeface="Blogger Sans"/>
              </a:rPr>
              <a:t> konusunda öğrenilen bilgiye sahip olan insanların bu bilgileri pratiğe dökerek kendilerini test etmelerini sağlamaktır.</a:t>
            </a:r>
            <a:endParaRPr lang="tr-TR" sz="3600" dirty="0"/>
          </a:p>
        </p:txBody>
      </p:sp>
    </p:spTree>
    <p:extLst>
      <p:ext uri="{BB962C8B-B14F-4D97-AF65-F5344CB8AC3E}">
        <p14:creationId xmlns:p14="http://schemas.microsoft.com/office/powerpoint/2010/main" val="17270872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5337E75-EC9B-4287-9D80-4B2855B6F2AF}"/>
              </a:ext>
            </a:extLst>
          </p:cNvPr>
          <p:cNvSpPr>
            <a:spLocks noGrp="1"/>
          </p:cNvSpPr>
          <p:nvPr>
            <p:ph type="title"/>
          </p:nvPr>
        </p:nvSpPr>
        <p:spPr>
          <a:xfrm>
            <a:off x="1038600" y="645308"/>
            <a:ext cx="10571998" cy="970450"/>
          </a:xfrm>
        </p:spPr>
        <p:txBody>
          <a:bodyPr/>
          <a:lstStyle/>
          <a:p>
            <a:r>
              <a:rPr lang="tr-TR" sz="7200" dirty="0" err="1"/>
              <a:t>BugBounty</a:t>
            </a:r>
            <a:r>
              <a:rPr lang="tr-TR" sz="7200" dirty="0"/>
              <a:t> Metodoloji</a:t>
            </a:r>
          </a:p>
        </p:txBody>
      </p:sp>
      <p:sp>
        <p:nvSpPr>
          <p:cNvPr id="3" name="İçerik Yer Tutucusu 2">
            <a:extLst>
              <a:ext uri="{FF2B5EF4-FFF2-40B4-BE49-F238E27FC236}">
                <a16:creationId xmlns:a16="http://schemas.microsoft.com/office/drawing/2014/main" id="{F737C754-209B-4F55-A7CB-BE6167F5BB83}"/>
              </a:ext>
            </a:extLst>
          </p:cNvPr>
          <p:cNvSpPr>
            <a:spLocks noGrp="1"/>
          </p:cNvSpPr>
          <p:nvPr>
            <p:ph sz="quarter" idx="13"/>
          </p:nvPr>
        </p:nvSpPr>
        <p:spPr>
          <a:xfrm>
            <a:off x="1215891" y="2246276"/>
            <a:ext cx="10394707" cy="3311189"/>
          </a:xfrm>
        </p:spPr>
        <p:txBody>
          <a:bodyPr>
            <a:noAutofit/>
          </a:bodyPr>
          <a:lstStyle/>
          <a:p>
            <a:pPr marL="0" indent="0">
              <a:buNone/>
            </a:pPr>
            <a:r>
              <a:rPr lang="tr-TR" sz="2800" b="0" i="0" dirty="0">
                <a:effectLst/>
                <a:latin typeface="GreycliffCF"/>
              </a:rPr>
              <a:t>    </a:t>
            </a:r>
            <a:r>
              <a:rPr lang="tr-TR" sz="2800" b="0" i="0" dirty="0" err="1">
                <a:effectLst/>
                <a:latin typeface="GreycliffCF"/>
              </a:rPr>
              <a:t>Bug</a:t>
            </a:r>
            <a:r>
              <a:rPr lang="tr-TR" sz="2800" b="0" i="0" dirty="0">
                <a:effectLst/>
                <a:latin typeface="GreycliffCF"/>
              </a:rPr>
              <a:t> </a:t>
            </a:r>
            <a:r>
              <a:rPr lang="tr-TR" sz="2800" b="0" i="0" dirty="0" err="1">
                <a:effectLst/>
                <a:latin typeface="GreycliffCF"/>
              </a:rPr>
              <a:t>bounty</a:t>
            </a:r>
            <a:r>
              <a:rPr lang="tr-TR" sz="2800" b="0" i="0" dirty="0">
                <a:effectLst/>
                <a:latin typeface="GreycliffCF"/>
              </a:rPr>
              <a:t> programları organizasyonların ürünlerindeki bozuklukların (</a:t>
            </a:r>
            <a:r>
              <a:rPr lang="tr-TR" sz="2800" b="0" i="0" dirty="0" err="1">
                <a:effectLst/>
                <a:latin typeface="GreycliffCF"/>
              </a:rPr>
              <a:t>bugs</a:t>
            </a:r>
            <a:r>
              <a:rPr lang="tr-TR" sz="2800" b="0" i="0" dirty="0">
                <a:effectLst/>
                <a:latin typeface="GreycliffCF"/>
              </a:rPr>
              <a:t>) tespiti ve güvenlik seviyelerini arttırmak için bağımsız güvenlik araştırmacılarının katıldığı özel ya da açık programlardır. Güvenlik araştırmacıları tespit ettikleri açıklık/zafiyet/sömürüleri (</a:t>
            </a:r>
            <a:r>
              <a:rPr lang="tr-TR" sz="2800" b="0" i="0" dirty="0" err="1">
                <a:effectLst/>
                <a:latin typeface="GreycliffCF"/>
              </a:rPr>
              <a:t>bugs</a:t>
            </a:r>
            <a:r>
              <a:rPr lang="tr-TR" sz="2800" b="0" i="0" dirty="0">
                <a:effectLst/>
                <a:latin typeface="GreycliffCF"/>
              </a:rPr>
              <a:t>) bu program kapsamında raporlayarak ücret ve ödüller kazanabilir. Bu programlarda genellikle güvenlik zafiyetleri raporlanır ama bazen donanım kusurları, </a:t>
            </a:r>
            <a:r>
              <a:rPr lang="tr-TR" sz="2800" b="0" i="0" dirty="0" err="1">
                <a:effectLst/>
                <a:latin typeface="GreycliffCF"/>
              </a:rPr>
              <a:t>süreçsel</a:t>
            </a:r>
            <a:r>
              <a:rPr lang="tr-TR" sz="2800" b="0" i="0" dirty="0">
                <a:effectLst/>
                <a:latin typeface="GreycliffCF"/>
              </a:rPr>
              <a:t> problemler ve benzeri problemleri de içerebilir.</a:t>
            </a:r>
            <a:endParaRPr lang="tr-TR" sz="2800" dirty="0"/>
          </a:p>
        </p:txBody>
      </p:sp>
    </p:spTree>
    <p:extLst>
      <p:ext uri="{BB962C8B-B14F-4D97-AF65-F5344CB8AC3E}">
        <p14:creationId xmlns:p14="http://schemas.microsoft.com/office/powerpoint/2010/main" val="15313377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CD99633-ECB0-49D5-B740-B7F7A54D0F5E}"/>
              </a:ext>
            </a:extLst>
          </p:cNvPr>
          <p:cNvSpPr>
            <a:spLocks noGrp="1"/>
          </p:cNvSpPr>
          <p:nvPr>
            <p:ph type="title"/>
          </p:nvPr>
        </p:nvSpPr>
        <p:spPr>
          <a:xfrm>
            <a:off x="624840" y="305034"/>
            <a:ext cx="12192000" cy="970450"/>
          </a:xfrm>
        </p:spPr>
        <p:txBody>
          <a:bodyPr/>
          <a:lstStyle/>
          <a:p>
            <a:r>
              <a:rPr lang="tr-TR" sz="5000" dirty="0"/>
              <a:t>BENİM KAFAMDA DELİ SORULAR VAR </a:t>
            </a:r>
          </a:p>
        </p:txBody>
      </p:sp>
      <p:sp>
        <p:nvSpPr>
          <p:cNvPr id="3" name="İçerik Yer Tutucusu 2">
            <a:extLst>
              <a:ext uri="{FF2B5EF4-FFF2-40B4-BE49-F238E27FC236}">
                <a16:creationId xmlns:a16="http://schemas.microsoft.com/office/drawing/2014/main" id="{CBE767A8-0ABE-4D02-B121-2AEFF6F807A5}"/>
              </a:ext>
            </a:extLst>
          </p:cNvPr>
          <p:cNvSpPr>
            <a:spLocks noGrp="1"/>
          </p:cNvSpPr>
          <p:nvPr>
            <p:ph sz="quarter" idx="13"/>
          </p:nvPr>
        </p:nvSpPr>
        <p:spPr>
          <a:xfrm>
            <a:off x="3406140" y="1862239"/>
            <a:ext cx="6629399" cy="1975956"/>
          </a:xfrm>
        </p:spPr>
        <p:txBody>
          <a:bodyPr>
            <a:normAutofit/>
          </a:bodyPr>
          <a:lstStyle/>
          <a:p>
            <a:pPr marL="0" indent="0">
              <a:buNone/>
            </a:pPr>
            <a:r>
              <a:rPr lang="tr-TR" dirty="0"/>
              <a:t>  https://github.com/LuNiZz/siber-guvenlik-sss</a:t>
            </a:r>
          </a:p>
          <a:p>
            <a:pPr marL="0" indent="0">
              <a:buNone/>
            </a:pPr>
            <a:endParaRPr lang="tr-TR" dirty="0"/>
          </a:p>
        </p:txBody>
      </p:sp>
      <p:sp>
        <p:nvSpPr>
          <p:cNvPr id="4" name="Metin kutusu 3">
            <a:extLst>
              <a:ext uri="{FF2B5EF4-FFF2-40B4-BE49-F238E27FC236}">
                <a16:creationId xmlns:a16="http://schemas.microsoft.com/office/drawing/2014/main" id="{2EEE7629-22E6-45C0-8D66-497F1F22A043}"/>
              </a:ext>
            </a:extLst>
          </p:cNvPr>
          <p:cNvSpPr txBox="1"/>
          <p:nvPr/>
        </p:nvSpPr>
        <p:spPr>
          <a:xfrm>
            <a:off x="137160" y="3508388"/>
            <a:ext cx="9098280" cy="461665"/>
          </a:xfrm>
          <a:prstGeom prst="rect">
            <a:avLst/>
          </a:prstGeom>
          <a:noFill/>
        </p:spPr>
        <p:txBody>
          <a:bodyPr wrap="square" rtlCol="0">
            <a:spAutoFit/>
          </a:bodyPr>
          <a:lstStyle/>
          <a:p>
            <a:r>
              <a:rPr lang="tr-TR" sz="2400" dirty="0"/>
              <a:t>			</a:t>
            </a:r>
          </a:p>
        </p:txBody>
      </p:sp>
      <p:sp>
        <p:nvSpPr>
          <p:cNvPr id="6" name="Metin kutusu 5">
            <a:extLst>
              <a:ext uri="{FF2B5EF4-FFF2-40B4-BE49-F238E27FC236}">
                <a16:creationId xmlns:a16="http://schemas.microsoft.com/office/drawing/2014/main" id="{F895CE3F-63D9-4D65-BCE5-BDD223C43E87}"/>
              </a:ext>
            </a:extLst>
          </p:cNvPr>
          <p:cNvSpPr txBox="1"/>
          <p:nvPr/>
        </p:nvSpPr>
        <p:spPr>
          <a:xfrm>
            <a:off x="1923800" y="5412357"/>
            <a:ext cx="11826240" cy="830997"/>
          </a:xfrm>
          <a:prstGeom prst="rect">
            <a:avLst/>
          </a:prstGeom>
          <a:noFill/>
        </p:spPr>
        <p:txBody>
          <a:bodyPr wrap="square" rtlCol="0">
            <a:spAutoFit/>
          </a:bodyPr>
          <a:lstStyle/>
          <a:p>
            <a:r>
              <a:rPr lang="tr-TR" sz="2400" dirty="0"/>
              <a:t> 			YUIN </a:t>
            </a:r>
            <a:r>
              <a:rPr lang="tr-TR" sz="2400" dirty="0" err="1"/>
              <a:t>Cyber</a:t>
            </a:r>
            <a:r>
              <a:rPr lang="tr-TR" sz="2400" dirty="0"/>
              <a:t> Security </a:t>
            </a:r>
            <a:r>
              <a:rPr lang="tr-TR" sz="2400" dirty="0" err="1"/>
              <a:t>Whatsapp</a:t>
            </a:r>
            <a:r>
              <a:rPr lang="tr-TR" sz="2400" dirty="0"/>
              <a:t> Grubu</a:t>
            </a:r>
          </a:p>
          <a:p>
            <a:r>
              <a:rPr lang="tr-TR" sz="2400" dirty="0"/>
              <a:t>https://chat.whatsapp.com/D9cUZaOBey96AtLtTa9wM4</a:t>
            </a:r>
          </a:p>
        </p:txBody>
      </p:sp>
      <p:sp>
        <p:nvSpPr>
          <p:cNvPr id="5" name="Metin kutusu 4">
            <a:extLst>
              <a:ext uri="{FF2B5EF4-FFF2-40B4-BE49-F238E27FC236}">
                <a16:creationId xmlns:a16="http://schemas.microsoft.com/office/drawing/2014/main" id="{812A9851-61CC-463D-8157-88D2A461B680}"/>
              </a:ext>
            </a:extLst>
          </p:cNvPr>
          <p:cNvSpPr txBox="1"/>
          <p:nvPr/>
        </p:nvSpPr>
        <p:spPr>
          <a:xfrm>
            <a:off x="3596640" y="3210136"/>
            <a:ext cx="4998720" cy="646331"/>
          </a:xfrm>
          <a:prstGeom prst="rect">
            <a:avLst/>
          </a:prstGeom>
          <a:noFill/>
        </p:spPr>
        <p:txBody>
          <a:bodyPr wrap="square" rtlCol="0">
            <a:spAutoFit/>
          </a:bodyPr>
          <a:lstStyle/>
          <a:p>
            <a:pPr marL="0" indent="0">
              <a:buNone/>
            </a:pPr>
            <a:r>
              <a:rPr lang="tr-TR" dirty="0"/>
              <a:t>                       UMUT CAN ÇAPAR</a:t>
            </a:r>
          </a:p>
          <a:p>
            <a:pPr marL="0" indent="0">
              <a:buNone/>
            </a:pPr>
            <a:r>
              <a:rPr lang="tr-TR" dirty="0">
                <a:hlinkClick r:id="rId2">
                  <a:extLst>
                    <a:ext uri="{A12FA001-AC4F-418D-AE19-62706E023703}">
                      <ahyp:hlinkClr xmlns:ahyp="http://schemas.microsoft.com/office/drawing/2018/hyperlinkcolor" val="tx"/>
                    </a:ext>
                  </a:extLst>
                </a:hlinkClick>
              </a:rPr>
              <a:t>https://www.linkedin.com/in/umutccapar/</a:t>
            </a:r>
            <a:endParaRPr lang="tr-TR" dirty="0"/>
          </a:p>
        </p:txBody>
      </p:sp>
      <p:sp>
        <p:nvSpPr>
          <p:cNvPr id="7" name="Metin kutusu 6">
            <a:extLst>
              <a:ext uri="{FF2B5EF4-FFF2-40B4-BE49-F238E27FC236}">
                <a16:creationId xmlns:a16="http://schemas.microsoft.com/office/drawing/2014/main" id="{3CB79CFA-9F4F-4B9D-AD57-BC9FD0AFB1FA}"/>
              </a:ext>
            </a:extLst>
          </p:cNvPr>
          <p:cNvSpPr txBox="1"/>
          <p:nvPr/>
        </p:nvSpPr>
        <p:spPr>
          <a:xfrm>
            <a:off x="3429000" y="4154719"/>
            <a:ext cx="5334000" cy="1200329"/>
          </a:xfrm>
          <a:prstGeom prst="rect">
            <a:avLst/>
          </a:prstGeom>
          <a:noFill/>
        </p:spPr>
        <p:txBody>
          <a:bodyPr wrap="square" rtlCol="0">
            <a:spAutoFit/>
          </a:bodyPr>
          <a:lstStyle/>
          <a:p>
            <a:r>
              <a:rPr lang="tr-TR" dirty="0"/>
              <a:t>                        EMRECAN ÖKSÜM</a:t>
            </a:r>
          </a:p>
          <a:p>
            <a:r>
              <a:rPr lang="tr-TR" dirty="0">
                <a:hlinkClick r:id="rId3"/>
              </a:rPr>
              <a:t>https://www.linkedin.com/in/emrecan%C3%B</a:t>
            </a:r>
            <a:r>
              <a:rPr lang="tr-TR" dirty="0"/>
              <a:t>6ks%C3%BCm-5b0b36173/</a:t>
            </a:r>
          </a:p>
          <a:p>
            <a:endParaRPr lang="tr-TR" dirty="0"/>
          </a:p>
        </p:txBody>
      </p:sp>
    </p:spTree>
    <p:extLst>
      <p:ext uri="{BB962C8B-B14F-4D97-AF65-F5344CB8AC3E}">
        <p14:creationId xmlns:p14="http://schemas.microsoft.com/office/powerpoint/2010/main" val="36725030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0DFC3C9-6129-4BE9-92AA-8B2EB18655AA}"/>
              </a:ext>
            </a:extLst>
          </p:cNvPr>
          <p:cNvSpPr>
            <a:spLocks noGrp="1"/>
          </p:cNvSpPr>
          <p:nvPr>
            <p:ph type="title"/>
          </p:nvPr>
        </p:nvSpPr>
        <p:spPr>
          <a:xfrm>
            <a:off x="0" y="190470"/>
            <a:ext cx="12298680" cy="970450"/>
          </a:xfrm>
        </p:spPr>
        <p:txBody>
          <a:bodyPr/>
          <a:lstStyle/>
          <a:p>
            <a:r>
              <a:rPr lang="tr-TR" sz="3900" dirty="0"/>
              <a:t>SİBER GÜVENLİK İLE İLGİLİ PLATFORMLARIN TANITIMI</a:t>
            </a:r>
          </a:p>
        </p:txBody>
      </p:sp>
      <p:sp>
        <p:nvSpPr>
          <p:cNvPr id="3" name="İçerik Yer Tutucusu 2">
            <a:extLst>
              <a:ext uri="{FF2B5EF4-FFF2-40B4-BE49-F238E27FC236}">
                <a16:creationId xmlns:a16="http://schemas.microsoft.com/office/drawing/2014/main" id="{AF22A1DF-7643-4780-AFD2-285E82C2AA08}"/>
              </a:ext>
            </a:extLst>
          </p:cNvPr>
          <p:cNvSpPr>
            <a:spLocks noGrp="1"/>
          </p:cNvSpPr>
          <p:nvPr>
            <p:ph sz="quarter" idx="13"/>
          </p:nvPr>
        </p:nvSpPr>
        <p:spPr>
          <a:xfrm>
            <a:off x="304800" y="-502920"/>
            <a:ext cx="10394707" cy="9537561"/>
          </a:xfrm>
        </p:spPr>
        <p:txBody>
          <a:bodyPr>
            <a:normAutofit/>
          </a:bodyPr>
          <a:lstStyle/>
          <a:p>
            <a:pPr marL="0" indent="0">
              <a:buNone/>
            </a:pPr>
            <a:r>
              <a:rPr lang="tr-TR" sz="4000" dirty="0"/>
              <a:t>	</a:t>
            </a:r>
            <a:r>
              <a:rPr lang="tr-TR" sz="2400" dirty="0" err="1"/>
              <a:t>Turkcell</a:t>
            </a:r>
            <a:r>
              <a:rPr lang="tr-TR" sz="2400" dirty="0"/>
              <a:t> Geleceği Yazanlar</a:t>
            </a:r>
          </a:p>
          <a:p>
            <a:pPr marL="0" indent="0">
              <a:buNone/>
            </a:pPr>
            <a:r>
              <a:rPr lang="tr-TR" sz="2400" dirty="0"/>
              <a:t>	UNX Academy (Youtube)</a:t>
            </a:r>
          </a:p>
          <a:p>
            <a:pPr marL="0" indent="0">
              <a:buNone/>
            </a:pPr>
            <a:r>
              <a:rPr lang="tr-TR" sz="2400" dirty="0"/>
              <a:t>	Türkiye Siber Güvenlik Kümelenmesi (Youtube)</a:t>
            </a:r>
          </a:p>
          <a:p>
            <a:pPr marL="0" indent="0">
              <a:buNone/>
            </a:pPr>
            <a:r>
              <a:rPr lang="tr-TR" sz="2400" dirty="0"/>
              <a:t>	</a:t>
            </a:r>
            <a:r>
              <a:rPr lang="tr-TR" sz="2400" dirty="0" err="1"/>
              <a:t>Udemy</a:t>
            </a:r>
            <a:endParaRPr lang="tr-TR" sz="2400" dirty="0"/>
          </a:p>
          <a:p>
            <a:pPr marL="0" indent="0">
              <a:buNone/>
            </a:pPr>
            <a:r>
              <a:rPr lang="tr-TR" sz="2400" dirty="0"/>
              <a:t>	MDI SEC Canlı Yayın Tekrarları (</a:t>
            </a:r>
            <a:r>
              <a:rPr lang="tr-TR" sz="2400" dirty="0" err="1"/>
              <a:t>Twitch</a:t>
            </a:r>
            <a:r>
              <a:rPr lang="tr-TR" sz="2400" dirty="0"/>
              <a:t>)</a:t>
            </a:r>
          </a:p>
          <a:p>
            <a:pPr marL="0" indent="0">
              <a:buNone/>
            </a:pPr>
            <a:r>
              <a:rPr lang="tr-TR" sz="2400" dirty="0"/>
              <a:t>	Can Değer (</a:t>
            </a:r>
            <a:r>
              <a:rPr lang="tr-TR" sz="2400" dirty="0" err="1"/>
              <a:t>Lunizz</a:t>
            </a:r>
            <a:r>
              <a:rPr lang="tr-TR" sz="2400" dirty="0"/>
              <a:t>) Hacking </a:t>
            </a:r>
            <a:r>
              <a:rPr lang="tr-TR" sz="2400" dirty="0" err="1"/>
              <a:t>The</a:t>
            </a:r>
            <a:r>
              <a:rPr lang="tr-TR" sz="2400" dirty="0"/>
              <a:t> Temel Serisi (</a:t>
            </a:r>
            <a:r>
              <a:rPr lang="tr-TR" sz="2400" dirty="0" err="1"/>
              <a:t>Twitch</a:t>
            </a:r>
            <a:r>
              <a:rPr lang="tr-TR" sz="2400" dirty="0"/>
              <a:t>)</a:t>
            </a:r>
          </a:p>
          <a:p>
            <a:pPr marL="0" indent="0">
              <a:buNone/>
            </a:pPr>
            <a:r>
              <a:rPr lang="tr-TR" sz="2400" dirty="0"/>
              <a:t>	Network Chuck (Youtube)</a:t>
            </a:r>
          </a:p>
          <a:p>
            <a:pPr marL="0" indent="0">
              <a:buNone/>
            </a:pPr>
            <a:r>
              <a:rPr lang="tr-TR" sz="2400" dirty="0"/>
              <a:t>	</a:t>
            </a:r>
            <a:r>
              <a:rPr lang="tr-TR" sz="2400" dirty="0" err="1"/>
              <a:t>The</a:t>
            </a:r>
            <a:r>
              <a:rPr lang="tr-TR" sz="2400" dirty="0"/>
              <a:t> </a:t>
            </a:r>
            <a:r>
              <a:rPr lang="tr-TR" sz="2400" dirty="0" err="1"/>
              <a:t>Cyber</a:t>
            </a:r>
            <a:r>
              <a:rPr lang="tr-TR" sz="2400" dirty="0"/>
              <a:t> </a:t>
            </a:r>
            <a:r>
              <a:rPr lang="tr-TR" sz="2400" dirty="0" err="1"/>
              <a:t>Mentor</a:t>
            </a:r>
            <a:r>
              <a:rPr lang="tr-TR" sz="2400" dirty="0"/>
              <a:t> (Youtube)</a:t>
            </a:r>
          </a:p>
          <a:p>
            <a:pPr marL="0" indent="0">
              <a:buNone/>
            </a:pPr>
            <a:r>
              <a:rPr lang="tr-TR" sz="2400" dirty="0"/>
              <a:t>	BTK Akademi</a:t>
            </a:r>
          </a:p>
        </p:txBody>
      </p:sp>
      <p:sp>
        <p:nvSpPr>
          <p:cNvPr id="4" name="Metin kutusu 3">
            <a:extLst>
              <a:ext uri="{FF2B5EF4-FFF2-40B4-BE49-F238E27FC236}">
                <a16:creationId xmlns:a16="http://schemas.microsoft.com/office/drawing/2014/main" id="{4C911A64-E5F0-4A76-A512-CB9A149FD44D}"/>
              </a:ext>
            </a:extLst>
          </p:cNvPr>
          <p:cNvSpPr txBox="1"/>
          <p:nvPr/>
        </p:nvSpPr>
        <p:spPr>
          <a:xfrm>
            <a:off x="2820427" y="1341120"/>
            <a:ext cx="8077200" cy="584775"/>
          </a:xfrm>
          <a:prstGeom prst="rect">
            <a:avLst/>
          </a:prstGeom>
          <a:noFill/>
        </p:spPr>
        <p:txBody>
          <a:bodyPr wrap="square" rtlCol="0">
            <a:spAutoFit/>
          </a:bodyPr>
          <a:lstStyle/>
          <a:p>
            <a:r>
              <a:rPr lang="tr-TR" sz="3200" dirty="0"/>
              <a:t>KURS, EĞİTİM PLATFORMALARI</a:t>
            </a:r>
          </a:p>
        </p:txBody>
      </p:sp>
    </p:spTree>
    <p:extLst>
      <p:ext uri="{BB962C8B-B14F-4D97-AF65-F5344CB8AC3E}">
        <p14:creationId xmlns:p14="http://schemas.microsoft.com/office/powerpoint/2010/main" val="37122019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C71712E-C7AB-4ABD-B397-F6E8B5FFA833}"/>
              </a:ext>
            </a:extLst>
          </p:cNvPr>
          <p:cNvSpPr>
            <a:spLocks noGrp="1"/>
          </p:cNvSpPr>
          <p:nvPr>
            <p:ph type="title"/>
          </p:nvPr>
        </p:nvSpPr>
        <p:spPr>
          <a:xfrm>
            <a:off x="2659950" y="634885"/>
            <a:ext cx="6872099" cy="970450"/>
          </a:xfrm>
        </p:spPr>
        <p:txBody>
          <a:bodyPr/>
          <a:lstStyle/>
          <a:p>
            <a:r>
              <a:rPr lang="tr-TR" sz="6600" dirty="0"/>
              <a:t>BİLGİ GÜVENLİĞİ </a:t>
            </a:r>
          </a:p>
        </p:txBody>
      </p:sp>
      <p:sp>
        <p:nvSpPr>
          <p:cNvPr id="3" name="İçerik Yer Tutucusu 2">
            <a:extLst>
              <a:ext uri="{FF2B5EF4-FFF2-40B4-BE49-F238E27FC236}">
                <a16:creationId xmlns:a16="http://schemas.microsoft.com/office/drawing/2014/main" id="{41581B57-7568-4851-BE34-22391BECC7DC}"/>
              </a:ext>
            </a:extLst>
          </p:cNvPr>
          <p:cNvSpPr>
            <a:spLocks noGrp="1"/>
          </p:cNvSpPr>
          <p:nvPr>
            <p:ph sz="quarter" idx="13"/>
          </p:nvPr>
        </p:nvSpPr>
        <p:spPr>
          <a:xfrm>
            <a:off x="1302343" y="1697904"/>
            <a:ext cx="10394707" cy="3311189"/>
          </a:xfrm>
        </p:spPr>
        <p:txBody>
          <a:bodyPr>
            <a:normAutofit/>
          </a:bodyPr>
          <a:lstStyle/>
          <a:p>
            <a:pPr marL="0" indent="0">
              <a:buNone/>
            </a:pPr>
            <a:r>
              <a:rPr lang="tr-TR" sz="3200" dirty="0"/>
              <a:t>				Herkes İçin Siber Güvenlik</a:t>
            </a:r>
          </a:p>
          <a:p>
            <a:pPr marL="0" indent="0">
              <a:buNone/>
            </a:pPr>
            <a:r>
              <a:rPr lang="tr-TR" sz="2800" dirty="0"/>
              <a:t>https://herkesicinsiberguvenlik.net/egitim-videolari/</a:t>
            </a:r>
          </a:p>
        </p:txBody>
      </p:sp>
    </p:spTree>
    <p:extLst>
      <p:ext uri="{BB962C8B-B14F-4D97-AF65-F5344CB8AC3E}">
        <p14:creationId xmlns:p14="http://schemas.microsoft.com/office/powerpoint/2010/main" val="17283411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eklif">
  <a:themeElements>
    <a:clrScheme name="Gri Tonlamalı">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Teklif">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klif">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98D1675B-7325-48AD-994B-0DEF3379A98D}"/>
    </a:ext>
  </a:extLst>
</a:theme>
</file>

<file path=docProps/app.xml><?xml version="1.0" encoding="utf-8"?>
<Properties xmlns="http://schemas.openxmlformats.org/officeDocument/2006/extended-properties" xmlns:vt="http://schemas.openxmlformats.org/officeDocument/2006/docPropsVTypes">
  <Template>TM03457503[[fn=Teklif]]</Template>
  <TotalTime>0</TotalTime>
  <Words>885</Words>
  <Application>Microsoft Office PowerPoint</Application>
  <PresentationFormat>Geniş ekran</PresentationFormat>
  <Paragraphs>79</Paragraphs>
  <Slides>22</Slides>
  <Notes>0</Notes>
  <HiddenSlides>0</HiddenSlides>
  <MMClips>0</MMClips>
  <ScaleCrop>false</ScaleCrop>
  <HeadingPairs>
    <vt:vector size="6" baseType="variant">
      <vt:variant>
        <vt:lpstr>Kullanılan Yazı Tipleri</vt:lpstr>
      </vt:variant>
      <vt:variant>
        <vt:i4>11</vt:i4>
      </vt:variant>
      <vt:variant>
        <vt:lpstr>Tema</vt:lpstr>
      </vt:variant>
      <vt:variant>
        <vt:i4>1</vt:i4>
      </vt:variant>
      <vt:variant>
        <vt:lpstr>Slayt Başlıkları</vt:lpstr>
      </vt:variant>
      <vt:variant>
        <vt:i4>22</vt:i4>
      </vt:variant>
    </vt:vector>
  </HeadingPairs>
  <TitlesOfParts>
    <vt:vector size="34" baseType="lpstr">
      <vt:lpstr>-apple-system</vt:lpstr>
      <vt:lpstr>Blogger Sans</vt:lpstr>
      <vt:lpstr>Flama Basic</vt:lpstr>
      <vt:lpstr>Flama Bold</vt:lpstr>
      <vt:lpstr>gdsherpa</vt:lpstr>
      <vt:lpstr>GreycliffCF</vt:lpstr>
      <vt:lpstr>arial</vt:lpstr>
      <vt:lpstr>Bahnschrift</vt:lpstr>
      <vt:lpstr>Century Gothic</vt:lpstr>
      <vt:lpstr>Courier New</vt:lpstr>
      <vt:lpstr>Wingdings 2</vt:lpstr>
      <vt:lpstr>Teklif</vt:lpstr>
      <vt:lpstr>   YEDİTEPE     ÜNİVERSİTESİ </vt:lpstr>
      <vt:lpstr>             NEDİR BU SİBER GÜVENLİK</vt:lpstr>
      <vt:lpstr>PEKİ BİZİM İÇİN NEDEN ÖNEMLİ</vt:lpstr>
      <vt:lpstr>SİBER GÜVENLİK ALT DALLARI</vt:lpstr>
      <vt:lpstr>NETWORK GÜVENLİĞİ</vt:lpstr>
      <vt:lpstr>KABLOSUZ AĞ GÜVENLİĞİ</vt:lpstr>
      <vt:lpstr>WEB UYGULAMA GÜVENLİĞİ</vt:lpstr>
      <vt:lpstr>VERİTABANI GÜVENLİĞİ</vt:lpstr>
      <vt:lpstr>MALWARE ANALİZİ</vt:lpstr>
      <vt:lpstr>ADLİ BİLİŞİM(FORENSIC)</vt:lpstr>
      <vt:lpstr>ADLİ BİLİŞİM(FORENSIC)</vt:lpstr>
      <vt:lpstr>SİBER TEHDİT İSTİHBARATI (CTI)</vt:lpstr>
      <vt:lpstr>EXPLOIT GELİŞTİRME</vt:lpstr>
      <vt:lpstr>PENTEST (SIZMA TESTİ)</vt:lpstr>
      <vt:lpstr>Sızma Testi Yöntemleri Nelerdir?</vt:lpstr>
      <vt:lpstr>KRİPTOLOJİ</vt:lpstr>
      <vt:lpstr>KRİPTOLOJİ</vt:lpstr>
      <vt:lpstr>CTF Metodoloji</vt:lpstr>
      <vt:lpstr>BugBounty Metodoloji</vt:lpstr>
      <vt:lpstr>BENİM KAFAMDA DELİ SORULAR VAR </vt:lpstr>
      <vt:lpstr>SİBER GÜVENLİK İLE İLGİLİ PLATFORMLARIN TANITIMI</vt:lpstr>
      <vt:lpstr>BİLGİ GÜVENLİĞİ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YEDİTEPE     ÜNİVERSİTESİ SİBER GÜVENLİK KAMPI</dc:title>
  <dc:creator>umut çapar</dc:creator>
  <cp:lastModifiedBy>umut</cp:lastModifiedBy>
  <cp:revision>9</cp:revision>
  <dcterms:created xsi:type="dcterms:W3CDTF">2021-11-15T22:24:39Z</dcterms:created>
  <dcterms:modified xsi:type="dcterms:W3CDTF">2022-02-28T22:22:47Z</dcterms:modified>
</cp:coreProperties>
</file>