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660"/>
  </p:normalViewPr>
  <p:slideViewPr>
    <p:cSldViewPr snapToGrid="0">
      <p:cViewPr varScale="1">
        <p:scale>
          <a:sx n="114" d="100"/>
          <a:sy n="114" d="100"/>
        </p:scale>
        <p:origin x="18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60AB29-DF99-46E0-A7BC-C8EC7AED5998}"/>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4B41D5C8-48BB-42C8-89CE-2F2420C792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D613FB7A-F512-40F2-BD89-368EF4D89D41}"/>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5" name="Alt Bilgi Yer Tutucusu 4">
            <a:extLst>
              <a:ext uri="{FF2B5EF4-FFF2-40B4-BE49-F238E27FC236}">
                <a16:creationId xmlns:a16="http://schemas.microsoft.com/office/drawing/2014/main" id="{B5213906-F180-484D-8715-DD6F55DF13B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4CECA7E-5A28-4248-A930-7A48DFBDC77A}"/>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2672185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38956D-BABB-41BB-93E3-CFFF98D0460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023FA616-9AE4-4739-AE3C-7EF7C0D8494A}"/>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EA35E7D-8A99-42BE-926D-B18C9CD757F4}"/>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5" name="Alt Bilgi Yer Tutucusu 4">
            <a:extLst>
              <a:ext uri="{FF2B5EF4-FFF2-40B4-BE49-F238E27FC236}">
                <a16:creationId xmlns:a16="http://schemas.microsoft.com/office/drawing/2014/main" id="{3047E7A3-166B-42C1-9F98-477961167B7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6DD07EB-89A4-4CA1-85FD-CA0C247AC28C}"/>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161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1E63A4-50A7-4179-8CC6-3D1FA88F9C51}"/>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F838B26F-D0EF-43CF-8B1E-E847F7198B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CA1F3B46-3EB7-41DA-93B7-4FE2DDF0926A}"/>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5" name="Alt Bilgi Yer Tutucusu 4">
            <a:extLst>
              <a:ext uri="{FF2B5EF4-FFF2-40B4-BE49-F238E27FC236}">
                <a16:creationId xmlns:a16="http://schemas.microsoft.com/office/drawing/2014/main" id="{501BF0D0-A8D6-4FA8-8D35-7DAA7D48F91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34B4E28-6E62-4140-937C-948BB1B969CE}"/>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2005122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A8643C6-B948-430E-9802-80D0752EAD89}"/>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5301FDC-C85C-4568-8275-77703F4C5A77}"/>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69D9130E-D657-43FB-80D7-3A135924549F}"/>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18360595-2D20-4887-A240-2E5C035637D8}"/>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6" name="Alt Bilgi Yer Tutucusu 5">
            <a:extLst>
              <a:ext uri="{FF2B5EF4-FFF2-40B4-BE49-F238E27FC236}">
                <a16:creationId xmlns:a16="http://schemas.microsoft.com/office/drawing/2014/main" id="{289A33ED-AE33-4028-BB25-176D6DD8B21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FBE8ACB-030F-4BA5-A58E-976FB70BC6E9}"/>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17154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B419DC-B82B-46B8-A7CE-FCA33771486E}"/>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7C89E80-11AA-4BD1-941A-60FCAE1E99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2CB2B80B-0BF3-43FB-A98D-5083695B7B0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C45DF8F8-6E48-4525-AE57-36AFC92E5C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CC2B40E5-735D-4269-A447-2F2D19779BD9}"/>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47FF5935-386A-4C33-9607-FF11D523D836}"/>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8" name="Alt Bilgi Yer Tutucusu 7">
            <a:extLst>
              <a:ext uri="{FF2B5EF4-FFF2-40B4-BE49-F238E27FC236}">
                <a16:creationId xmlns:a16="http://schemas.microsoft.com/office/drawing/2014/main" id="{62018FEB-92F4-4F26-9543-C1DD23DE9ABF}"/>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26A8C59A-BFEE-4577-A85A-6BD81856C3EC}"/>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953465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6A92A9-D2CD-4CC7-BFDA-414CDA3AF290}"/>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35D7F7C-F1BD-4F1C-9A53-FDB51AFB10D0}"/>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4" name="Alt Bilgi Yer Tutucusu 3">
            <a:extLst>
              <a:ext uri="{FF2B5EF4-FFF2-40B4-BE49-F238E27FC236}">
                <a16:creationId xmlns:a16="http://schemas.microsoft.com/office/drawing/2014/main" id="{23781C9C-7160-47E3-A4DA-567FDDB0140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C243585C-BCD0-4027-B3E2-5F3A56DB1261}"/>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3782594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8408C35-351A-4F11-80BE-BDAC6A5A41E9}"/>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3" name="Alt Bilgi Yer Tutucusu 2">
            <a:extLst>
              <a:ext uri="{FF2B5EF4-FFF2-40B4-BE49-F238E27FC236}">
                <a16:creationId xmlns:a16="http://schemas.microsoft.com/office/drawing/2014/main" id="{4C108D9B-4556-40D8-943C-0B020434FAA7}"/>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D3CF3928-E7D6-4765-AE77-0C4EFCE56476}"/>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153008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886F27-4B3E-4787-BEF5-B29540F45F63}"/>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9A1BB893-91C9-4A0A-8667-DD1D6E6725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632F0842-DC8D-4A76-9C24-B7F6303E1B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3A76C36-5C7F-4531-B98B-05FFA5AF0716}"/>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6" name="Alt Bilgi Yer Tutucusu 5">
            <a:extLst>
              <a:ext uri="{FF2B5EF4-FFF2-40B4-BE49-F238E27FC236}">
                <a16:creationId xmlns:a16="http://schemas.microsoft.com/office/drawing/2014/main" id="{25540086-35F6-4F3C-94F8-47EA141E353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3D63FDB-4B2B-45E2-BE9F-469E94F7E2C6}"/>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3401853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D0AF34-26D0-428E-8006-602409D713A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2D4514EE-FCDB-4CDF-B5C0-0A4D52AA98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EBF5A5C1-416A-4B59-AA68-8FAC120AC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D138ABD-28C4-4FE2-8C35-C06C7AEFD7C7}"/>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6" name="Alt Bilgi Yer Tutucusu 5">
            <a:extLst>
              <a:ext uri="{FF2B5EF4-FFF2-40B4-BE49-F238E27FC236}">
                <a16:creationId xmlns:a16="http://schemas.microsoft.com/office/drawing/2014/main" id="{62E3AECF-E20B-441A-BCE6-8413703CC47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E45E8B2-CDE9-41B1-B1D0-45468636AB9F}"/>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1157045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014679-E0F4-4BD9-A927-96E1892CB2A2}"/>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E91BF151-AF58-4E84-9865-2DF6BFDED51F}"/>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7B5890B-EF11-40EE-B9C0-B0E9B8C1BBB8}"/>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5" name="Alt Bilgi Yer Tutucusu 4">
            <a:extLst>
              <a:ext uri="{FF2B5EF4-FFF2-40B4-BE49-F238E27FC236}">
                <a16:creationId xmlns:a16="http://schemas.microsoft.com/office/drawing/2014/main" id="{EAC1BD7C-84F2-401F-A8D5-BBA117AA5AE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64DAB03-328F-41CA-B073-85D708E5649A}"/>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2686140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B442D0CB-6DAB-47B4-BF5C-3A995C3235A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9895D9BB-9C22-4A0A-BFCC-6C59E946FB73}"/>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08AD21B-411C-4F24-930D-2D15B925E900}"/>
              </a:ext>
            </a:extLst>
          </p:cNvPr>
          <p:cNvSpPr>
            <a:spLocks noGrp="1"/>
          </p:cNvSpPr>
          <p:nvPr>
            <p:ph type="dt" sz="half" idx="10"/>
          </p:nvPr>
        </p:nvSpPr>
        <p:spPr/>
        <p:txBody>
          <a:bodyPr/>
          <a:lstStyle/>
          <a:p>
            <a:fld id="{9F9A6968-7AEC-4969-A640-E7090621CAC4}" type="datetimeFigureOut">
              <a:rPr lang="tr-TR" smtClean="0"/>
              <a:t>28.02.2022</a:t>
            </a:fld>
            <a:endParaRPr lang="tr-TR"/>
          </a:p>
        </p:txBody>
      </p:sp>
      <p:sp>
        <p:nvSpPr>
          <p:cNvPr id="5" name="Alt Bilgi Yer Tutucusu 4">
            <a:extLst>
              <a:ext uri="{FF2B5EF4-FFF2-40B4-BE49-F238E27FC236}">
                <a16:creationId xmlns:a16="http://schemas.microsoft.com/office/drawing/2014/main" id="{FE67F450-54E6-4B2D-A6F8-C647E483FF3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42F6A02-FC2C-4131-B099-C760B71B1A1C}"/>
              </a:ext>
            </a:extLst>
          </p:cNvPr>
          <p:cNvSpPr>
            <a:spLocks noGrp="1"/>
          </p:cNvSpPr>
          <p:nvPr>
            <p:ph type="sldNum" sz="quarter" idx="12"/>
          </p:nvPr>
        </p:nvSpPr>
        <p:spPr/>
        <p:txBody>
          <a:bodyPr/>
          <a:lstStyle/>
          <a:p>
            <a:fld id="{972DF8FF-6839-4168-8AC0-9878D05EF13E}" type="slidenum">
              <a:rPr lang="tr-TR" smtClean="0"/>
              <a:t>‹#›</a:t>
            </a:fld>
            <a:endParaRPr lang="tr-TR"/>
          </a:p>
        </p:txBody>
      </p:sp>
    </p:spTree>
    <p:extLst>
      <p:ext uri="{BB962C8B-B14F-4D97-AF65-F5344CB8AC3E}">
        <p14:creationId xmlns:p14="http://schemas.microsoft.com/office/powerpoint/2010/main" val="357595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279BB31-D7F7-4B8F-A12D-350D868C55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895390D2-9D96-48A3-81ED-D9D2C7A188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8C6206D-541B-48C1-92CF-F51761569F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A6968-7AEC-4969-A640-E7090621CAC4}" type="datetimeFigureOut">
              <a:rPr lang="tr-TR" smtClean="0"/>
              <a:t>28.02.2022</a:t>
            </a:fld>
            <a:endParaRPr lang="tr-TR"/>
          </a:p>
        </p:txBody>
      </p:sp>
      <p:sp>
        <p:nvSpPr>
          <p:cNvPr id="5" name="Alt Bilgi Yer Tutucusu 4">
            <a:extLst>
              <a:ext uri="{FF2B5EF4-FFF2-40B4-BE49-F238E27FC236}">
                <a16:creationId xmlns:a16="http://schemas.microsoft.com/office/drawing/2014/main" id="{37AAFE08-8138-42A2-94EC-50358ADBBE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F52C1B84-8FAC-4931-B368-7D4CA81B63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2DF8FF-6839-4168-8AC0-9878D05EF13E}" type="slidenum">
              <a:rPr lang="tr-TR" smtClean="0"/>
              <a:t>‹#›</a:t>
            </a:fld>
            <a:endParaRPr lang="tr-TR"/>
          </a:p>
        </p:txBody>
      </p:sp>
    </p:spTree>
    <p:extLst>
      <p:ext uri="{BB962C8B-B14F-4D97-AF65-F5344CB8AC3E}">
        <p14:creationId xmlns:p14="http://schemas.microsoft.com/office/powerpoint/2010/main" val="3934379065"/>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r.wikipedia.org/wiki/Linux"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youtube.com/watch?v=cEhnQN1ZmDI"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tr.wikipedia.org/wiki/GNU_Genel_Kamu_Lisans%C4%B1" TargetMode="External"/><Relationship Id="rId2" Type="http://schemas.openxmlformats.org/officeDocument/2006/relationships/hyperlink" Target="https://tr.wikipedia.org/wiki/Richard_Stallman" TargetMode="Externa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hyperlink" Target="https://tr.wikipedia.org/wiki/%C3%96zg%C3%BCr_yaz%C4%B1l%C4%B1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F79AC6-BF9E-4C0D-B317-AA59DACA5DFB}"/>
              </a:ext>
            </a:extLst>
          </p:cNvPr>
          <p:cNvSpPr>
            <a:spLocks noGrp="1"/>
          </p:cNvSpPr>
          <p:nvPr>
            <p:ph type="ctrTitle"/>
          </p:nvPr>
        </p:nvSpPr>
        <p:spPr>
          <a:xfrm>
            <a:off x="1236133" y="1901296"/>
            <a:ext cx="9144000" cy="2387600"/>
          </a:xfrm>
        </p:spPr>
        <p:txBody>
          <a:bodyPr>
            <a:normAutofit/>
          </a:bodyPr>
          <a:lstStyle/>
          <a:p>
            <a:r>
              <a:rPr lang="tr-TR" sz="9600" dirty="0">
                <a:latin typeface="Arial Black" panose="020B0A04020102020204" pitchFamily="34" charset="0"/>
              </a:rPr>
              <a:t>GNU/LINUX</a:t>
            </a:r>
          </a:p>
        </p:txBody>
      </p:sp>
    </p:spTree>
    <p:extLst>
      <p:ext uri="{BB962C8B-B14F-4D97-AF65-F5344CB8AC3E}">
        <p14:creationId xmlns:p14="http://schemas.microsoft.com/office/powerpoint/2010/main" val="1834642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379D91-F892-419E-B139-2CE484F6FC58}"/>
              </a:ext>
            </a:extLst>
          </p:cNvPr>
          <p:cNvSpPr>
            <a:spLocks noGrp="1"/>
          </p:cNvSpPr>
          <p:nvPr>
            <p:ph type="title"/>
          </p:nvPr>
        </p:nvSpPr>
        <p:spPr/>
        <p:txBody>
          <a:bodyPr>
            <a:normAutofit fontScale="90000"/>
          </a:bodyPr>
          <a:lstStyle/>
          <a:p>
            <a:r>
              <a:rPr lang="tr-TR" dirty="0"/>
              <a:t>				</a:t>
            </a:r>
            <a:br>
              <a:rPr lang="tr-TR" dirty="0"/>
            </a:br>
            <a:r>
              <a:rPr lang="tr-TR" dirty="0"/>
              <a:t>				   </a:t>
            </a:r>
            <a:r>
              <a:rPr lang="tr-TR" sz="8900" b="1" dirty="0"/>
              <a:t>UNIX </a:t>
            </a:r>
            <a:br>
              <a:rPr lang="tr-TR" b="1" dirty="0"/>
            </a:br>
            <a:endParaRPr lang="tr-TR" b="1" dirty="0"/>
          </a:p>
        </p:txBody>
      </p:sp>
      <p:sp>
        <p:nvSpPr>
          <p:cNvPr id="3" name="İçerik Yer Tutucusu 2">
            <a:extLst>
              <a:ext uri="{FF2B5EF4-FFF2-40B4-BE49-F238E27FC236}">
                <a16:creationId xmlns:a16="http://schemas.microsoft.com/office/drawing/2014/main" id="{23B719A4-82D7-40AD-9690-95F2B0463E6A}"/>
              </a:ext>
            </a:extLst>
          </p:cNvPr>
          <p:cNvSpPr>
            <a:spLocks noGrp="1"/>
          </p:cNvSpPr>
          <p:nvPr>
            <p:ph idx="1"/>
          </p:nvPr>
        </p:nvSpPr>
        <p:spPr/>
        <p:txBody>
          <a:bodyPr/>
          <a:lstStyle/>
          <a:p>
            <a:r>
              <a:rPr lang="tr-TR" dirty="0"/>
              <a:t>  1969 yılında </a:t>
            </a:r>
            <a:r>
              <a:rPr lang="tr-TR" dirty="0" err="1"/>
              <a:t>Bell</a:t>
            </a:r>
            <a:r>
              <a:rPr lang="tr-TR" dirty="0"/>
              <a:t> Laboratuvarları'nda geliştirilmiş bir işletim sistemidir. Bu sistem kendi bünyesinde bulundurduğu araçları sayesinde çeşitli üniversiteler ve diğer ihtiyaç duyulan kurumlarda kullanılıyordu. Buraya kadar her şey gayet güzel ancak UNIX belli bir zaman sonra lisans ücreti almaya başladı ve kapalı kaynak oldu. Tabi ki bu durum sistemi kullanabilecek kişilerin sayısını da oldukça azaltıyordu. ‘’Para ödemek yerine ben kendi işletim sistemimi yazarım.’’ diyen baba yiğitler ortaya çıktı . Bunun sonucunda birçok işletim sistemi geliştirme girişimleri oldu ancak sonuçta geliştirilen sistemler stabil şekilde çalışmıyorlardı. Ta ki </a:t>
            </a:r>
            <a:r>
              <a:rPr lang="tr-TR" dirty="0" err="1"/>
              <a:t>Linus</a:t>
            </a:r>
            <a:r>
              <a:rPr lang="tr-TR" dirty="0"/>
              <a:t> </a:t>
            </a:r>
            <a:r>
              <a:rPr lang="tr-TR" dirty="0" err="1"/>
              <a:t>Torvalds</a:t>
            </a:r>
            <a:r>
              <a:rPr lang="tr-TR" dirty="0"/>
              <a:t> abimiz çıkana kadar.</a:t>
            </a:r>
          </a:p>
        </p:txBody>
      </p:sp>
    </p:spTree>
    <p:extLst>
      <p:ext uri="{BB962C8B-B14F-4D97-AF65-F5344CB8AC3E}">
        <p14:creationId xmlns:p14="http://schemas.microsoft.com/office/powerpoint/2010/main" val="1288076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41CD3A-B54B-4E2A-A07B-3E9CD32ED27C}"/>
              </a:ext>
            </a:extLst>
          </p:cNvPr>
          <p:cNvSpPr>
            <a:spLocks noGrp="1"/>
          </p:cNvSpPr>
          <p:nvPr>
            <p:ph type="title"/>
          </p:nvPr>
        </p:nvSpPr>
        <p:spPr>
          <a:xfrm>
            <a:off x="618067" y="189256"/>
            <a:ext cx="10396882" cy="1151965"/>
          </a:xfrm>
        </p:spPr>
        <p:txBody>
          <a:bodyPr>
            <a:normAutofit fontScale="90000"/>
          </a:bodyPr>
          <a:lstStyle/>
          <a:p>
            <a:r>
              <a:rPr lang="tr-TR" dirty="0"/>
              <a:t>		     </a:t>
            </a:r>
            <a:r>
              <a:rPr lang="tr-TR" sz="8000" b="1" dirty="0" err="1"/>
              <a:t>LInus</a:t>
            </a:r>
            <a:r>
              <a:rPr lang="tr-TR" sz="8000" b="1" dirty="0"/>
              <a:t> </a:t>
            </a:r>
            <a:r>
              <a:rPr lang="tr-TR" sz="8000" b="1" dirty="0" err="1"/>
              <a:t>Torvalds</a:t>
            </a:r>
            <a:endParaRPr lang="tr-TR" sz="8000" b="1" dirty="0"/>
          </a:p>
        </p:txBody>
      </p:sp>
      <p:pic>
        <p:nvPicPr>
          <p:cNvPr id="5" name="İçerik Yer Tutucusu 4">
            <a:extLst>
              <a:ext uri="{FF2B5EF4-FFF2-40B4-BE49-F238E27FC236}">
                <a16:creationId xmlns:a16="http://schemas.microsoft.com/office/drawing/2014/main" id="{8100CA4E-C7EF-4A1D-BEBC-9E476A10B7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9934" y="2282826"/>
            <a:ext cx="2793152" cy="3491441"/>
          </a:xfrm>
        </p:spPr>
      </p:pic>
      <p:sp>
        <p:nvSpPr>
          <p:cNvPr id="7" name="Metin kutusu 6">
            <a:extLst>
              <a:ext uri="{FF2B5EF4-FFF2-40B4-BE49-F238E27FC236}">
                <a16:creationId xmlns:a16="http://schemas.microsoft.com/office/drawing/2014/main" id="{9E0933C0-2D7F-4D63-AA4A-8D837047FFC1}"/>
              </a:ext>
            </a:extLst>
          </p:cNvPr>
          <p:cNvSpPr txBox="1"/>
          <p:nvPr/>
        </p:nvSpPr>
        <p:spPr>
          <a:xfrm>
            <a:off x="4207932" y="1341221"/>
            <a:ext cx="7366001" cy="4801314"/>
          </a:xfrm>
          <a:prstGeom prst="rect">
            <a:avLst/>
          </a:prstGeom>
          <a:noFill/>
        </p:spPr>
        <p:txBody>
          <a:bodyPr wrap="square" rtlCol="0">
            <a:spAutoFit/>
          </a:bodyPr>
          <a:lstStyle/>
          <a:p>
            <a:pPr rtl="0">
              <a:spcBef>
                <a:spcPts val="1200"/>
              </a:spcBef>
              <a:spcAft>
                <a:spcPts val="0"/>
              </a:spcAft>
            </a:pPr>
            <a:r>
              <a:rPr lang="tr-TR" sz="2000" dirty="0">
                <a:solidFill>
                  <a:srgbClr val="0D1117"/>
                </a:solidFill>
                <a:latin typeface="Arial" panose="020B0604020202020204" pitchFamily="34" charset="0"/>
              </a:rPr>
              <a:t>   </a:t>
            </a:r>
            <a:r>
              <a:rPr lang="tr-TR" sz="2000" b="0" i="0" u="none" strike="noStrike" dirty="0">
                <a:solidFill>
                  <a:srgbClr val="0D1117"/>
                </a:solidFill>
                <a:effectLst/>
                <a:latin typeface="Arial" panose="020B0604020202020204" pitchFamily="34" charset="0"/>
              </a:rPr>
              <a:t>İnsanların lisans ücretinden kaçmak için kendi işletim sistemini yazma akımı devam ediyorken bu durum </a:t>
            </a:r>
            <a:r>
              <a:rPr lang="tr-TR" sz="2000" b="0" i="0" u="none" strike="noStrike" dirty="0" err="1">
                <a:solidFill>
                  <a:srgbClr val="0D1117"/>
                </a:solidFill>
                <a:effectLst/>
                <a:latin typeface="Arial" panose="020B0604020202020204" pitchFamily="34" charset="0"/>
              </a:rPr>
              <a:t>Linus</a:t>
            </a:r>
            <a:r>
              <a:rPr lang="tr-TR" sz="2000" b="0" i="0" u="none" strike="noStrike" dirty="0">
                <a:solidFill>
                  <a:srgbClr val="0D1117"/>
                </a:solidFill>
                <a:effectLst/>
                <a:latin typeface="Arial" panose="020B0604020202020204" pitchFamily="34" charset="0"/>
              </a:rPr>
              <a:t> </a:t>
            </a:r>
            <a:r>
              <a:rPr lang="tr-TR" sz="2000" b="0" i="0" u="none" strike="noStrike" dirty="0" err="1">
                <a:solidFill>
                  <a:srgbClr val="0D1117"/>
                </a:solidFill>
                <a:effectLst/>
                <a:latin typeface="Arial" panose="020B0604020202020204" pitchFamily="34" charset="0"/>
              </a:rPr>
              <a:t>Torvalds’ı</a:t>
            </a:r>
            <a:r>
              <a:rPr lang="tr-TR" sz="2000" b="0" i="0" u="none" strike="noStrike" dirty="0">
                <a:solidFill>
                  <a:srgbClr val="0D1117"/>
                </a:solidFill>
                <a:effectLst/>
                <a:latin typeface="Arial" panose="020B0604020202020204" pitchFamily="34" charset="0"/>
              </a:rPr>
              <a:t> da etkilemiş olacak ki </a:t>
            </a:r>
            <a:r>
              <a:rPr lang="tr-TR" sz="2000" b="0" i="0" u="none" strike="noStrike" dirty="0" err="1">
                <a:solidFill>
                  <a:srgbClr val="0D1117"/>
                </a:solidFill>
                <a:effectLst/>
                <a:latin typeface="Arial" panose="020B0604020202020204" pitchFamily="34" charset="0"/>
              </a:rPr>
              <a:t>Linus</a:t>
            </a:r>
            <a:r>
              <a:rPr lang="tr-TR" sz="2000" b="0" i="0" u="none" strike="noStrike" dirty="0">
                <a:solidFill>
                  <a:srgbClr val="0D1117"/>
                </a:solidFill>
                <a:effectLst/>
                <a:latin typeface="Arial" panose="020B0604020202020204" pitchFamily="34" charset="0"/>
              </a:rPr>
              <a:t>, UNIX’ ten esinlenerek kendi işletim sistemi çekirdeğini yazdı.  Bu esinlenme bir tane bile kod alıntısı yapmadan sıfırdan yazarak başardı. Bir çok forumda kendisi bu çekirdeği paylaşarak insanlardan gelen geri bildirimler sayesinde çekirdeğin daha stabil ve kullanışlı olmasını sağladı. </a:t>
            </a:r>
            <a:endParaRPr lang="tr-TR" sz="2000" b="0" dirty="0">
              <a:effectLst/>
            </a:endParaRPr>
          </a:p>
          <a:p>
            <a:pPr rtl="0">
              <a:spcBef>
                <a:spcPts val="1200"/>
              </a:spcBef>
              <a:spcAft>
                <a:spcPts val="0"/>
              </a:spcAft>
            </a:pPr>
            <a:r>
              <a:rPr lang="tr-TR" sz="2000" b="0" i="0" u="none" strike="noStrike" dirty="0">
                <a:solidFill>
                  <a:srgbClr val="0D1117"/>
                </a:solidFill>
                <a:effectLst/>
                <a:latin typeface="Arial" panose="020B0604020202020204" pitchFamily="34" charset="0"/>
              </a:rPr>
              <a:t>Ve en nihayetinde </a:t>
            </a:r>
            <a:r>
              <a:rPr lang="tr-TR" sz="2000" b="0" i="0" u="none" strike="noStrike" dirty="0" err="1">
                <a:solidFill>
                  <a:srgbClr val="0D1117"/>
                </a:solidFill>
                <a:effectLst/>
                <a:latin typeface="Arial" panose="020B0604020202020204" pitchFamily="34" charset="0"/>
              </a:rPr>
              <a:t>Linus</a:t>
            </a:r>
            <a:r>
              <a:rPr lang="tr-TR" sz="2000" b="0" i="0" u="none" strike="noStrike" dirty="0">
                <a:solidFill>
                  <a:srgbClr val="0D1117"/>
                </a:solidFill>
                <a:effectLst/>
                <a:latin typeface="Arial" panose="020B0604020202020204" pitchFamily="34" charset="0"/>
              </a:rPr>
              <a:t>, bu geliştirdiği çekirdeğe(</a:t>
            </a:r>
            <a:r>
              <a:rPr lang="tr-TR" sz="2000" b="0" i="0" u="none" strike="noStrike" dirty="0" err="1">
                <a:solidFill>
                  <a:srgbClr val="0D1117"/>
                </a:solidFill>
                <a:effectLst/>
                <a:latin typeface="Arial" panose="020B0604020202020204" pitchFamily="34" charset="0"/>
              </a:rPr>
              <a:t>kernel</a:t>
            </a:r>
            <a:r>
              <a:rPr lang="tr-TR" sz="2000" b="0" i="0" u="none" strike="noStrike" dirty="0">
                <a:solidFill>
                  <a:srgbClr val="0D1117"/>
                </a:solidFill>
                <a:effectLst/>
                <a:latin typeface="Arial" panose="020B0604020202020204" pitchFamily="34" charset="0"/>
              </a:rPr>
              <a:t>) "</a:t>
            </a:r>
            <a:r>
              <a:rPr lang="tr-TR" sz="2000" b="0" i="0" u="none" strike="noStrike" dirty="0">
                <a:solidFill>
                  <a:srgbClr val="0D1117"/>
                </a:solidFill>
                <a:effectLst/>
                <a:latin typeface="Arial" panose="020B0604020202020204" pitchFamily="34" charset="0"/>
                <a:hlinkClick r:id="rId3"/>
              </a:rPr>
              <a:t>Linux</a:t>
            </a:r>
            <a:r>
              <a:rPr lang="tr-TR" sz="2000" b="0" i="0" u="none" strike="noStrike" dirty="0">
                <a:solidFill>
                  <a:srgbClr val="0D1117"/>
                </a:solidFill>
                <a:effectLst/>
                <a:latin typeface="Arial" panose="020B0604020202020204" pitchFamily="34" charset="0"/>
              </a:rPr>
              <a:t>" adını verdi. Ancak Linux bir çekirdekti ve içerisinde UNIX gibi kullanışlı araçları bulundurmuyordu. </a:t>
            </a:r>
            <a:r>
              <a:rPr lang="tr-TR" sz="2000" b="0" i="0" u="none" strike="noStrike" dirty="0" err="1">
                <a:solidFill>
                  <a:srgbClr val="1155CC"/>
                </a:solidFill>
                <a:effectLst/>
                <a:latin typeface="Arial" panose="020B0604020202020204" pitchFamily="34" charset="0"/>
                <a:hlinkClick r:id="rId4"/>
              </a:rPr>
              <a:t>Revolution</a:t>
            </a:r>
            <a:r>
              <a:rPr lang="tr-TR" sz="2000" b="0" i="0" u="none" strike="noStrike" dirty="0">
                <a:solidFill>
                  <a:srgbClr val="1155CC"/>
                </a:solidFill>
                <a:effectLst/>
                <a:latin typeface="Arial" panose="020B0604020202020204" pitchFamily="34" charset="0"/>
                <a:hlinkClick r:id="rId4"/>
              </a:rPr>
              <a:t> OS</a:t>
            </a:r>
            <a:r>
              <a:rPr lang="tr-TR" sz="2000" b="0" i="0" u="none" strike="noStrike" dirty="0">
                <a:solidFill>
                  <a:srgbClr val="0D1117"/>
                </a:solidFill>
                <a:effectLst/>
                <a:latin typeface="Arial" panose="020B0604020202020204" pitchFamily="34" charset="0"/>
              </a:rPr>
              <a:t> belgeselini izleyerek konu hakkında daha fazla bilgiye sahip olabilirsiniz. </a:t>
            </a:r>
            <a:endParaRPr lang="tr-TR" sz="2000" b="0" dirty="0">
              <a:effectLst/>
            </a:endParaRPr>
          </a:p>
          <a:p>
            <a:br>
              <a:rPr lang="tr-TR" dirty="0"/>
            </a:br>
            <a:endParaRPr lang="tr-TR" dirty="0"/>
          </a:p>
        </p:txBody>
      </p:sp>
    </p:spTree>
    <p:extLst>
      <p:ext uri="{BB962C8B-B14F-4D97-AF65-F5344CB8AC3E}">
        <p14:creationId xmlns:p14="http://schemas.microsoft.com/office/powerpoint/2010/main" val="166978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C4C7B5A-90B7-4478-A656-0E05C162AE21}"/>
              </a:ext>
            </a:extLst>
          </p:cNvPr>
          <p:cNvSpPr>
            <a:spLocks noGrp="1"/>
          </p:cNvSpPr>
          <p:nvPr>
            <p:ph idx="1"/>
          </p:nvPr>
        </p:nvSpPr>
        <p:spPr>
          <a:xfrm>
            <a:off x="423334" y="1656291"/>
            <a:ext cx="6553200" cy="5608108"/>
          </a:xfrm>
        </p:spPr>
        <p:txBody>
          <a:bodyPr>
            <a:normAutofit/>
          </a:bodyPr>
          <a:lstStyle/>
          <a:p>
            <a:pPr rtl="0">
              <a:spcBef>
                <a:spcPts val="1200"/>
              </a:spcBef>
              <a:spcAft>
                <a:spcPts val="0"/>
              </a:spcAft>
            </a:pPr>
            <a:r>
              <a:rPr lang="tr-TR" sz="3500" b="0" i="0" u="none" strike="noStrike" dirty="0">
                <a:solidFill>
                  <a:srgbClr val="0D1117"/>
                </a:solidFill>
                <a:effectLst/>
                <a:latin typeface="Arial" panose="020B0604020202020204" pitchFamily="34" charset="0"/>
              </a:rPr>
              <a:t>İşte tüm bunlar yaşanırken  </a:t>
            </a:r>
            <a:r>
              <a:rPr lang="tr-TR" sz="3500" b="0" i="0" u="none" strike="noStrike" dirty="0">
                <a:solidFill>
                  <a:srgbClr val="0D1117"/>
                </a:solidFill>
                <a:effectLst/>
                <a:latin typeface="Arial" panose="020B0604020202020204" pitchFamily="34" charset="0"/>
                <a:hlinkClick r:id="rId2"/>
              </a:rPr>
              <a:t>Richard </a:t>
            </a:r>
            <a:r>
              <a:rPr lang="tr-TR" sz="3500" b="0" i="0" u="none" strike="noStrike" dirty="0" err="1">
                <a:solidFill>
                  <a:srgbClr val="0D1117"/>
                </a:solidFill>
                <a:effectLst/>
                <a:latin typeface="Arial" panose="020B0604020202020204" pitchFamily="34" charset="0"/>
                <a:hlinkClick r:id="rId2"/>
              </a:rPr>
              <a:t>Stallman</a:t>
            </a:r>
            <a:r>
              <a:rPr lang="tr-TR" sz="3500" b="0" i="0" u="none" strike="noStrike" dirty="0" err="1">
                <a:solidFill>
                  <a:srgbClr val="0D1117"/>
                </a:solidFill>
                <a:effectLst/>
                <a:latin typeface="Arial" panose="020B0604020202020204" pitchFamily="34" charset="0"/>
              </a:rPr>
              <a:t>'da</a:t>
            </a:r>
            <a:r>
              <a:rPr lang="tr-TR" sz="3500" b="0" i="0" u="none" strike="noStrike" dirty="0">
                <a:solidFill>
                  <a:srgbClr val="0D1117"/>
                </a:solidFill>
                <a:effectLst/>
                <a:latin typeface="Arial" panose="020B0604020202020204" pitchFamily="34" charset="0"/>
              </a:rPr>
              <a:t> , </a:t>
            </a:r>
            <a:r>
              <a:rPr lang="tr-TR" sz="3500" b="0" i="0" u="none" strike="noStrike" dirty="0">
                <a:solidFill>
                  <a:srgbClr val="0D1117"/>
                </a:solidFill>
                <a:effectLst/>
                <a:latin typeface="Arial" panose="020B0604020202020204" pitchFamily="34" charset="0"/>
                <a:hlinkClick r:id="rId3"/>
              </a:rPr>
              <a:t>GNU genel kamu lisansı</a:t>
            </a:r>
            <a:r>
              <a:rPr lang="tr-TR" sz="3500" b="0" i="0" u="none" strike="noStrike" dirty="0">
                <a:solidFill>
                  <a:srgbClr val="0D1117"/>
                </a:solidFill>
                <a:effectLst/>
                <a:latin typeface="Arial" panose="020B0604020202020204" pitchFamily="34" charset="0"/>
              </a:rPr>
              <a:t>nı ortaya atarak </a:t>
            </a:r>
            <a:r>
              <a:rPr lang="tr-TR" sz="3500" b="0" i="0" u="none" strike="noStrike" dirty="0">
                <a:solidFill>
                  <a:srgbClr val="0D1117"/>
                </a:solidFill>
                <a:effectLst/>
                <a:latin typeface="Arial" panose="020B0604020202020204" pitchFamily="34" charset="0"/>
                <a:hlinkClick r:id="rId4"/>
              </a:rPr>
              <a:t>özgür yazılım</a:t>
            </a:r>
            <a:r>
              <a:rPr lang="tr-TR" sz="3500" b="0" i="0" u="none" strike="noStrike" dirty="0">
                <a:solidFill>
                  <a:srgbClr val="0D1117"/>
                </a:solidFill>
                <a:effectLst/>
                <a:latin typeface="Arial" panose="020B0604020202020204" pitchFamily="34" charset="0"/>
              </a:rPr>
              <a:t>ı savunuyordu. Nedir bu genel kamu lisansı ve özgür yazılım diyecek olursanız…</a:t>
            </a:r>
            <a:endParaRPr lang="tr-TR" sz="3500" b="0" dirty="0">
              <a:effectLst/>
            </a:endParaRPr>
          </a:p>
          <a:p>
            <a:pPr marL="0" indent="0">
              <a:buNone/>
            </a:pPr>
            <a:br>
              <a:rPr lang="tr-TR" b="0" dirty="0">
                <a:effectLst/>
              </a:rPr>
            </a:br>
            <a:endParaRPr lang="tr-TR" dirty="0"/>
          </a:p>
        </p:txBody>
      </p:sp>
      <p:pic>
        <p:nvPicPr>
          <p:cNvPr id="5" name="Resim 4">
            <a:extLst>
              <a:ext uri="{FF2B5EF4-FFF2-40B4-BE49-F238E27FC236}">
                <a16:creationId xmlns:a16="http://schemas.microsoft.com/office/drawing/2014/main" id="{AB268106-AE9C-4AA2-892A-8F40CCCB1B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6476" y="1656291"/>
            <a:ext cx="3268402" cy="4229313"/>
          </a:xfrm>
          <a:prstGeom prst="rect">
            <a:avLst/>
          </a:prstGeom>
        </p:spPr>
      </p:pic>
    </p:spTree>
    <p:extLst>
      <p:ext uri="{BB962C8B-B14F-4D97-AF65-F5344CB8AC3E}">
        <p14:creationId xmlns:p14="http://schemas.microsoft.com/office/powerpoint/2010/main" val="100199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C0D60B-5AC1-40D0-8CCD-7FAC462000E6}"/>
              </a:ext>
            </a:extLst>
          </p:cNvPr>
          <p:cNvSpPr>
            <a:spLocks noGrp="1"/>
          </p:cNvSpPr>
          <p:nvPr>
            <p:ph type="title"/>
          </p:nvPr>
        </p:nvSpPr>
        <p:spPr>
          <a:xfrm>
            <a:off x="618068" y="365125"/>
            <a:ext cx="11827933" cy="1460500"/>
          </a:xfrm>
        </p:spPr>
        <p:txBody>
          <a:bodyPr>
            <a:noAutofit/>
          </a:bodyPr>
          <a:lstStyle/>
          <a:p>
            <a:r>
              <a:rPr lang="tr-TR" sz="6000" b="1" i="0" u="none" strike="noStrike" dirty="0">
                <a:solidFill>
                  <a:srgbClr val="0D1117"/>
                </a:solidFill>
                <a:effectLst/>
                <a:latin typeface="Arial" panose="020B0604020202020204" pitchFamily="34" charset="0"/>
              </a:rPr>
              <a:t>Açık Kaynak ve Özgür Yazılım</a:t>
            </a:r>
            <a:endParaRPr lang="tr-TR" sz="6000" dirty="0"/>
          </a:p>
        </p:txBody>
      </p:sp>
      <p:sp>
        <p:nvSpPr>
          <p:cNvPr id="3" name="İçerik Yer Tutucusu 2">
            <a:extLst>
              <a:ext uri="{FF2B5EF4-FFF2-40B4-BE49-F238E27FC236}">
                <a16:creationId xmlns:a16="http://schemas.microsoft.com/office/drawing/2014/main" id="{5F643FEC-11D5-401B-AB6A-2943FEDA1C4A}"/>
              </a:ext>
            </a:extLst>
          </p:cNvPr>
          <p:cNvSpPr>
            <a:spLocks noGrp="1"/>
          </p:cNvSpPr>
          <p:nvPr>
            <p:ph idx="1"/>
          </p:nvPr>
        </p:nvSpPr>
        <p:spPr>
          <a:xfrm>
            <a:off x="838200" y="1825625"/>
            <a:ext cx="5918200" cy="4351338"/>
          </a:xfrm>
        </p:spPr>
        <p:txBody>
          <a:bodyPr>
            <a:normAutofit/>
          </a:bodyPr>
          <a:lstStyle/>
          <a:p>
            <a:pPr rtl="0">
              <a:spcBef>
                <a:spcPts val="1200"/>
              </a:spcBef>
              <a:spcAft>
                <a:spcPts val="0"/>
              </a:spcAft>
            </a:pPr>
            <a:r>
              <a:rPr lang="tr-TR" b="0" i="0" u="none" strike="noStrike" dirty="0">
                <a:solidFill>
                  <a:srgbClr val="0D1117"/>
                </a:solidFill>
                <a:effectLst/>
                <a:latin typeface="Arial" panose="020B0604020202020204" pitchFamily="34" charset="0"/>
              </a:rPr>
              <a:t>Açık kaynak en basit haliyle, yazılımların kaynak kodlarının herkese açık şekilde yayınlanmış olmasıdır. Bu sayede yazılımların tüm çalışma yapısı şeffaf bir biçimde herkes tarafından denetlenebilir. Şeffaf denetim imkanı olduğu için yazılım içerisinde zararlı kodlar bulunma ihtimali de son derece düşürülmüş olur.</a:t>
            </a:r>
            <a:endParaRPr lang="tr-TR" sz="4000" b="0" dirty="0">
              <a:effectLst/>
            </a:endParaRPr>
          </a:p>
          <a:p>
            <a:endParaRPr lang="tr-TR" dirty="0"/>
          </a:p>
        </p:txBody>
      </p:sp>
      <p:pic>
        <p:nvPicPr>
          <p:cNvPr id="5" name="Resim 4">
            <a:extLst>
              <a:ext uri="{FF2B5EF4-FFF2-40B4-BE49-F238E27FC236}">
                <a16:creationId xmlns:a16="http://schemas.microsoft.com/office/drawing/2014/main" id="{2D9B323E-DD84-42A1-958B-CAEE973B0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6400" y="2177824"/>
            <a:ext cx="5392209" cy="3081262"/>
          </a:xfrm>
          <a:prstGeom prst="rect">
            <a:avLst/>
          </a:prstGeom>
        </p:spPr>
      </p:pic>
    </p:spTree>
    <p:extLst>
      <p:ext uri="{BB962C8B-B14F-4D97-AF65-F5344CB8AC3E}">
        <p14:creationId xmlns:p14="http://schemas.microsoft.com/office/powerpoint/2010/main" val="161509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B145A0-8D6E-4D48-B458-1DE0F8247F89}"/>
              </a:ext>
            </a:extLst>
          </p:cNvPr>
          <p:cNvSpPr>
            <a:spLocks noGrp="1"/>
          </p:cNvSpPr>
          <p:nvPr>
            <p:ph type="title"/>
          </p:nvPr>
        </p:nvSpPr>
        <p:spPr>
          <a:xfrm>
            <a:off x="677333" y="280459"/>
            <a:ext cx="11116733" cy="1325563"/>
          </a:xfrm>
        </p:spPr>
        <p:txBody>
          <a:bodyPr>
            <a:noAutofit/>
          </a:bodyPr>
          <a:lstStyle/>
          <a:p>
            <a:r>
              <a:rPr lang="tr-TR" sz="6000" b="1" i="0" u="none" strike="noStrike" dirty="0">
                <a:solidFill>
                  <a:srgbClr val="0D1117"/>
                </a:solidFill>
                <a:effectLst/>
                <a:latin typeface="Arial" panose="020B0604020202020204" pitchFamily="34" charset="0"/>
              </a:rPr>
              <a:t>Açık Kaynak ve Özgür Yazılım</a:t>
            </a:r>
            <a:endParaRPr lang="tr-TR" sz="6000" dirty="0"/>
          </a:p>
        </p:txBody>
      </p:sp>
      <p:sp>
        <p:nvSpPr>
          <p:cNvPr id="3" name="İçerik Yer Tutucusu 2">
            <a:extLst>
              <a:ext uri="{FF2B5EF4-FFF2-40B4-BE49-F238E27FC236}">
                <a16:creationId xmlns:a16="http://schemas.microsoft.com/office/drawing/2014/main" id="{2A0F4825-F4CC-4F2B-BCA3-E62803B3D7A6}"/>
              </a:ext>
            </a:extLst>
          </p:cNvPr>
          <p:cNvSpPr>
            <a:spLocks noGrp="1"/>
          </p:cNvSpPr>
          <p:nvPr>
            <p:ph idx="1"/>
          </p:nvPr>
        </p:nvSpPr>
        <p:spPr>
          <a:xfrm>
            <a:off x="558799" y="1825625"/>
            <a:ext cx="11235267" cy="4351338"/>
          </a:xfrm>
        </p:spPr>
        <p:txBody>
          <a:bodyPr>
            <a:normAutofit/>
          </a:bodyPr>
          <a:lstStyle/>
          <a:p>
            <a:r>
              <a:rPr lang="tr-TR" sz="3200" b="0" i="0" u="none" strike="noStrike" dirty="0">
                <a:solidFill>
                  <a:srgbClr val="0D1117"/>
                </a:solidFill>
                <a:effectLst/>
                <a:latin typeface="Arial" panose="020B0604020202020204" pitchFamily="34" charset="0"/>
              </a:rPr>
              <a:t> Açık kaynağın sağladığı </a:t>
            </a:r>
            <a:r>
              <a:rPr lang="tr-TR" sz="3200" b="0" i="0" u="none" strike="noStrike" dirty="0" err="1">
                <a:solidFill>
                  <a:srgbClr val="0D1117"/>
                </a:solidFill>
                <a:effectLst/>
                <a:latin typeface="Arial" panose="020B0604020202020204" pitchFamily="34" charset="0"/>
              </a:rPr>
              <a:t>avatajlar</a:t>
            </a:r>
            <a:r>
              <a:rPr lang="tr-TR" sz="3200" b="0" i="0" u="none" strike="noStrike" dirty="0">
                <a:solidFill>
                  <a:srgbClr val="0D1117"/>
                </a:solidFill>
                <a:effectLst/>
                <a:latin typeface="Arial" panose="020B0604020202020204" pitchFamily="34" charset="0"/>
              </a:rPr>
              <a:t> dolayısıyla "açık kaynak" genellikle "özgür yazılım" adıyla birlikte anılır. İki kavram arasındaki farkı Richard </a:t>
            </a:r>
            <a:r>
              <a:rPr lang="tr-TR" sz="3200" b="0" i="0" u="none" strike="noStrike" dirty="0" err="1">
                <a:solidFill>
                  <a:srgbClr val="0D1117"/>
                </a:solidFill>
                <a:effectLst/>
                <a:latin typeface="Arial" panose="020B0604020202020204" pitchFamily="34" charset="0"/>
              </a:rPr>
              <a:t>Stallman</a:t>
            </a:r>
            <a:r>
              <a:rPr lang="tr-TR" sz="3200" b="0" i="0" u="none" strike="noStrike" dirty="0">
                <a:solidFill>
                  <a:srgbClr val="0D1117"/>
                </a:solidFill>
                <a:effectLst/>
                <a:latin typeface="Arial" panose="020B0604020202020204" pitchFamily="34" charset="0"/>
              </a:rPr>
              <a:t> aşağıdaki ifadeler ile net biçimde açıklamıştır</a:t>
            </a:r>
            <a:r>
              <a:rPr lang="tr-TR" sz="2000" b="0" i="0" u="none" strike="noStrike" dirty="0">
                <a:solidFill>
                  <a:srgbClr val="0D1117"/>
                </a:solidFill>
                <a:effectLst/>
                <a:latin typeface="Arial" panose="020B0604020202020204" pitchFamily="34" charset="0"/>
              </a:rPr>
              <a:t>.</a:t>
            </a:r>
          </a:p>
          <a:p>
            <a:endParaRPr lang="tr-TR" sz="2000" dirty="0">
              <a:solidFill>
                <a:srgbClr val="0D1117"/>
              </a:solidFill>
              <a:latin typeface="Arial" panose="020B0604020202020204" pitchFamily="34" charset="0"/>
            </a:endParaRPr>
          </a:p>
          <a:p>
            <a:r>
              <a:rPr lang="tr-TR" sz="2400" b="0" i="1" u="none" strike="noStrike" dirty="0">
                <a:solidFill>
                  <a:srgbClr val="0D1117"/>
                </a:solidFill>
                <a:effectLst/>
                <a:latin typeface="Courier New" panose="02070309020205020404" pitchFamily="49" charset="0"/>
              </a:rPr>
              <a:t>“Her iki kavramda hemen hemen aynı kategoride yer alan yazılımları tasvir ediyor olsa da, esasen farklı değerleri temsil ediyorlar. Açık kaynak (</a:t>
            </a:r>
            <a:r>
              <a:rPr lang="tr-TR" sz="2400" b="0" i="1" u="none" strike="noStrike" dirty="0" err="1">
                <a:solidFill>
                  <a:srgbClr val="0D1117"/>
                </a:solidFill>
                <a:effectLst/>
                <a:latin typeface="Courier New" panose="02070309020205020404" pitchFamily="49" charset="0"/>
              </a:rPr>
              <a:t>open</a:t>
            </a:r>
            <a:r>
              <a:rPr lang="tr-TR" sz="2400" b="0" i="1" u="none" strike="noStrike" dirty="0">
                <a:solidFill>
                  <a:srgbClr val="0D1117"/>
                </a:solidFill>
                <a:effectLst/>
                <a:latin typeface="Courier New" panose="02070309020205020404" pitchFamily="49" charset="0"/>
              </a:rPr>
              <a:t> </a:t>
            </a:r>
            <a:r>
              <a:rPr lang="tr-TR" sz="2400" b="0" i="1" u="none" strike="noStrike" dirty="0" err="1">
                <a:solidFill>
                  <a:srgbClr val="0D1117"/>
                </a:solidFill>
                <a:effectLst/>
                <a:latin typeface="Courier New" panose="02070309020205020404" pitchFamily="49" charset="0"/>
              </a:rPr>
              <a:t>source</a:t>
            </a:r>
            <a:r>
              <a:rPr lang="tr-TR" sz="2400" b="0" i="1" u="none" strike="noStrike" dirty="0">
                <a:solidFill>
                  <a:srgbClr val="0D1117"/>
                </a:solidFill>
                <a:effectLst/>
                <a:latin typeface="Courier New" panose="02070309020205020404" pitchFamily="49" charset="0"/>
              </a:rPr>
              <a:t>) bir geliştirme metodolojisi iken, özgür yazılım (</a:t>
            </a:r>
            <a:r>
              <a:rPr lang="tr-TR" sz="2400" b="0" i="1" u="none" strike="noStrike" dirty="0" err="1">
                <a:solidFill>
                  <a:srgbClr val="0D1117"/>
                </a:solidFill>
                <a:effectLst/>
                <a:latin typeface="Courier New" panose="02070309020205020404" pitchFamily="49" charset="0"/>
              </a:rPr>
              <a:t>free</a:t>
            </a:r>
            <a:r>
              <a:rPr lang="tr-TR" sz="2400" b="0" i="1" u="none" strike="noStrike" dirty="0">
                <a:solidFill>
                  <a:srgbClr val="0D1117"/>
                </a:solidFill>
                <a:effectLst/>
                <a:latin typeface="Courier New" panose="02070309020205020404" pitchFamily="49" charset="0"/>
              </a:rPr>
              <a:t> software) ise sosyal bir harekettir.”</a:t>
            </a:r>
            <a:endParaRPr lang="tr-TR" sz="4000" dirty="0"/>
          </a:p>
        </p:txBody>
      </p:sp>
    </p:spTree>
    <p:extLst>
      <p:ext uri="{BB962C8B-B14F-4D97-AF65-F5344CB8AC3E}">
        <p14:creationId xmlns:p14="http://schemas.microsoft.com/office/powerpoint/2010/main" val="1394918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137508-E25B-42DB-9760-9337A0076FC3}"/>
              </a:ext>
            </a:extLst>
          </p:cNvPr>
          <p:cNvSpPr>
            <a:spLocks noGrp="1"/>
          </p:cNvSpPr>
          <p:nvPr>
            <p:ph type="title"/>
          </p:nvPr>
        </p:nvSpPr>
        <p:spPr>
          <a:xfrm>
            <a:off x="643467" y="297391"/>
            <a:ext cx="12192000" cy="1325563"/>
          </a:xfrm>
        </p:spPr>
        <p:txBody>
          <a:bodyPr>
            <a:normAutofit/>
          </a:bodyPr>
          <a:lstStyle/>
          <a:p>
            <a:r>
              <a:rPr lang="tr-TR" sz="6000" b="1" i="0" u="none" strike="noStrike" dirty="0">
                <a:solidFill>
                  <a:srgbClr val="0D1117"/>
                </a:solidFill>
                <a:effectLst/>
                <a:latin typeface="Arial" panose="020B0604020202020204" pitchFamily="34" charset="0"/>
              </a:rPr>
              <a:t>Açık Kaynak ve Özgür Yazılım</a:t>
            </a:r>
            <a:endParaRPr lang="tr-TR" sz="6000" dirty="0"/>
          </a:p>
        </p:txBody>
      </p:sp>
      <p:sp>
        <p:nvSpPr>
          <p:cNvPr id="3" name="İçerik Yer Tutucusu 2">
            <a:extLst>
              <a:ext uri="{FF2B5EF4-FFF2-40B4-BE49-F238E27FC236}">
                <a16:creationId xmlns:a16="http://schemas.microsoft.com/office/drawing/2014/main" id="{0EA09732-6FD7-48CE-9F45-9F164A62C6C4}"/>
              </a:ext>
            </a:extLst>
          </p:cNvPr>
          <p:cNvSpPr>
            <a:spLocks noGrp="1"/>
          </p:cNvSpPr>
          <p:nvPr>
            <p:ph idx="1"/>
          </p:nvPr>
        </p:nvSpPr>
        <p:spPr>
          <a:xfrm>
            <a:off x="838200" y="1825625"/>
            <a:ext cx="5376333" cy="4351338"/>
          </a:xfrm>
        </p:spPr>
        <p:txBody>
          <a:bodyPr/>
          <a:lstStyle/>
          <a:p>
            <a:r>
              <a:rPr lang="tr-TR" dirty="0"/>
              <a:t>Açık kaynak ücretsiz yazılım anlamına gelmemektedir,  hem ücretli hem de ücretsiz açık kaynaklı pek çok yazılım bulunmaktadır.  Yazılımların özgür olmasını sağlayan, sahip oldukları lisans türleridir. Richard </a:t>
            </a:r>
            <a:r>
              <a:rPr lang="tr-TR" dirty="0" err="1"/>
              <a:t>Stallman</a:t>
            </a:r>
            <a:r>
              <a:rPr lang="tr-TR" dirty="0"/>
              <a:t> da açık kaynağı ve özgür yazılımı desteklediği için bu doğrultuda GPL lisansını sunmuştur.</a:t>
            </a:r>
          </a:p>
          <a:p>
            <a:endParaRPr lang="tr-TR" dirty="0"/>
          </a:p>
        </p:txBody>
      </p:sp>
      <p:pic>
        <p:nvPicPr>
          <p:cNvPr id="5" name="Resim 4">
            <a:extLst>
              <a:ext uri="{FF2B5EF4-FFF2-40B4-BE49-F238E27FC236}">
                <a16:creationId xmlns:a16="http://schemas.microsoft.com/office/drawing/2014/main" id="{10B6AAE9-0884-4235-8B9B-B3BD2B337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4533" y="2137832"/>
            <a:ext cx="5798155" cy="3246967"/>
          </a:xfrm>
          <a:prstGeom prst="rect">
            <a:avLst/>
          </a:prstGeom>
        </p:spPr>
      </p:pic>
    </p:spTree>
    <p:extLst>
      <p:ext uri="{BB962C8B-B14F-4D97-AF65-F5344CB8AC3E}">
        <p14:creationId xmlns:p14="http://schemas.microsoft.com/office/powerpoint/2010/main" val="410532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F2078EA-83D7-4D6C-9AEE-66338451D102}"/>
              </a:ext>
            </a:extLst>
          </p:cNvPr>
          <p:cNvSpPr>
            <a:spLocks noGrp="1"/>
          </p:cNvSpPr>
          <p:nvPr>
            <p:ph type="title"/>
          </p:nvPr>
        </p:nvSpPr>
        <p:spPr/>
        <p:txBody>
          <a:bodyPr>
            <a:normAutofit/>
          </a:bodyPr>
          <a:lstStyle/>
          <a:p>
            <a:pPr algn="just"/>
            <a:r>
              <a:rPr lang="tr-TR" sz="8000" b="1" dirty="0"/>
              <a:t>				  GNU</a:t>
            </a:r>
          </a:p>
        </p:txBody>
      </p:sp>
      <p:sp>
        <p:nvSpPr>
          <p:cNvPr id="3" name="İçerik Yer Tutucusu 2">
            <a:extLst>
              <a:ext uri="{FF2B5EF4-FFF2-40B4-BE49-F238E27FC236}">
                <a16:creationId xmlns:a16="http://schemas.microsoft.com/office/drawing/2014/main" id="{01F794CE-04DC-4EEF-B08D-1C3B48FD6A8A}"/>
              </a:ext>
            </a:extLst>
          </p:cNvPr>
          <p:cNvSpPr>
            <a:spLocks noGrp="1"/>
          </p:cNvSpPr>
          <p:nvPr>
            <p:ph idx="1"/>
          </p:nvPr>
        </p:nvSpPr>
        <p:spPr>
          <a:xfrm>
            <a:off x="364066" y="1690688"/>
            <a:ext cx="7763934" cy="5625041"/>
          </a:xfrm>
        </p:spPr>
        <p:txBody>
          <a:bodyPr>
            <a:normAutofit lnSpcReduction="10000"/>
          </a:bodyPr>
          <a:lstStyle/>
          <a:p>
            <a:pPr rtl="0">
              <a:lnSpc>
                <a:spcPct val="100000"/>
              </a:lnSpc>
              <a:spcBef>
                <a:spcPts val="1200"/>
              </a:spcBef>
              <a:spcAft>
                <a:spcPts val="0"/>
              </a:spcAft>
            </a:pPr>
            <a:r>
              <a:rPr lang="tr-TR" b="0" i="0" u="none" strike="noStrike" dirty="0">
                <a:solidFill>
                  <a:srgbClr val="0D1117"/>
                </a:solidFill>
                <a:effectLst/>
                <a:latin typeface="Arial" panose="020B0604020202020204" pitchFamily="34" charset="0"/>
              </a:rPr>
              <a:t>GNU(</a:t>
            </a:r>
            <a:r>
              <a:rPr lang="tr-TR" b="0" i="0" u="none" strike="noStrike" dirty="0" err="1">
                <a:solidFill>
                  <a:srgbClr val="0D1117"/>
                </a:solidFill>
                <a:effectLst/>
                <a:latin typeface="Arial" panose="020B0604020202020204" pitchFamily="34" charset="0"/>
              </a:rPr>
              <a:t>Gnu</a:t>
            </a:r>
            <a:r>
              <a:rPr lang="tr-TR" b="0" i="0" u="none" strike="noStrike" dirty="0">
                <a:solidFill>
                  <a:srgbClr val="0D1117"/>
                </a:solidFill>
                <a:effectLst/>
                <a:latin typeface="Arial" panose="020B0604020202020204" pitchFamily="34" charset="0"/>
              </a:rPr>
              <a:t> is Not Unix/GNU Unix Değildir), açık kaynak hareketi doğrultusunda geliştirilen araçların içinde bulunduğu ücretsiz ve herkes için ulaşılabilir özgür bir işletim sistemidir. Ancak GNU için her şey her daim güllük gülistanlık değildi. GNU, içerisinde kendine ait güçlü araçları bulundurmasının yanı sıra kararlı bir çekirdeğe sahip değildi. Çekirdek için denemeler yapılmış ancak istenen düzeyde kararlı bir çekirdek oluşturulmamıştır. </a:t>
            </a:r>
            <a:endParaRPr lang="tr-TR" b="0" dirty="0">
              <a:effectLst/>
            </a:endParaRPr>
          </a:p>
          <a:p>
            <a:pPr marL="0" indent="0">
              <a:buNone/>
            </a:pPr>
            <a:br>
              <a:rPr lang="tr-TR" dirty="0"/>
            </a:br>
            <a:br>
              <a:rPr lang="tr-TR" dirty="0"/>
            </a:br>
            <a:endParaRPr lang="tr-TR" dirty="0"/>
          </a:p>
        </p:txBody>
      </p:sp>
      <p:pic>
        <p:nvPicPr>
          <p:cNvPr id="2050" name="Picture 2">
            <a:extLst>
              <a:ext uri="{FF2B5EF4-FFF2-40B4-BE49-F238E27FC236}">
                <a16:creationId xmlns:a16="http://schemas.microsoft.com/office/drawing/2014/main" id="{19F8F19A-104B-42E3-B00D-4D0F6063F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2134" y="1690688"/>
            <a:ext cx="3149600"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670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9103459-32BB-4345-A33A-D8224C3850E9}"/>
              </a:ext>
            </a:extLst>
          </p:cNvPr>
          <p:cNvSpPr>
            <a:spLocks noGrp="1"/>
          </p:cNvSpPr>
          <p:nvPr>
            <p:ph idx="1"/>
          </p:nvPr>
        </p:nvSpPr>
        <p:spPr>
          <a:xfrm>
            <a:off x="838200" y="1253331"/>
            <a:ext cx="10515600" cy="4351338"/>
          </a:xfrm>
        </p:spPr>
        <p:txBody>
          <a:bodyPr>
            <a:noAutofit/>
          </a:bodyPr>
          <a:lstStyle/>
          <a:p>
            <a:r>
              <a:rPr lang="tr-TR" sz="3200" b="0" i="0" u="none" strike="noStrike" dirty="0">
                <a:solidFill>
                  <a:srgbClr val="0D1117"/>
                </a:solidFill>
                <a:effectLst/>
                <a:latin typeface="Arial" panose="020B0604020202020204" pitchFamily="34" charset="0"/>
              </a:rPr>
              <a:t>Tam da bu noktada </a:t>
            </a:r>
            <a:r>
              <a:rPr lang="tr-TR" sz="3200" b="0" i="0" u="none" strike="noStrike" dirty="0" err="1">
                <a:solidFill>
                  <a:srgbClr val="0D1117"/>
                </a:solidFill>
                <a:effectLst/>
                <a:latin typeface="Arial" panose="020B0604020202020204" pitchFamily="34" charset="0"/>
              </a:rPr>
              <a:t>Linus</a:t>
            </a:r>
            <a:r>
              <a:rPr lang="tr-TR" sz="3200" b="0" i="0" u="none" strike="noStrike" dirty="0">
                <a:solidFill>
                  <a:srgbClr val="0D1117"/>
                </a:solidFill>
                <a:effectLst/>
                <a:latin typeface="Arial" panose="020B0604020202020204" pitchFamily="34" charset="0"/>
              </a:rPr>
              <a:t> </a:t>
            </a:r>
            <a:r>
              <a:rPr lang="tr-TR" sz="3200" b="0" i="0" u="none" strike="noStrike" dirty="0" err="1">
                <a:solidFill>
                  <a:srgbClr val="0D1117"/>
                </a:solidFill>
                <a:effectLst/>
                <a:latin typeface="Arial" panose="020B0604020202020204" pitchFamily="34" charset="0"/>
              </a:rPr>
              <a:t>Torvalds'ın</a:t>
            </a:r>
            <a:r>
              <a:rPr lang="tr-TR" sz="3200" b="0" i="0" u="none" strike="noStrike" dirty="0">
                <a:solidFill>
                  <a:srgbClr val="0D1117"/>
                </a:solidFill>
                <a:effectLst/>
                <a:latin typeface="Arial" panose="020B0604020202020204" pitchFamily="34" charset="0"/>
              </a:rPr>
              <a:t> sıfırdan geliştirip topluluğa sunduğu çekirdek(Linux) yazılımı, GNU ile tencere kapak uyumu olacak şekilde bir araya geldi. Böylelikle ortaya bir GNU/Linux efsanesi çıktı. İşte GNU/Linux devrimi kısaca bu şekilde oldu. Hem </a:t>
            </a:r>
            <a:r>
              <a:rPr lang="tr-TR" sz="3200" b="0" i="0" u="none" strike="noStrike" dirty="0" err="1">
                <a:solidFill>
                  <a:srgbClr val="0D1117"/>
                </a:solidFill>
                <a:effectLst/>
                <a:latin typeface="Arial" panose="020B0604020202020204" pitchFamily="34" charset="0"/>
              </a:rPr>
              <a:t>GNU'nun</a:t>
            </a:r>
            <a:r>
              <a:rPr lang="tr-TR" sz="3200" b="0" i="0" u="none" strike="noStrike" dirty="0">
                <a:solidFill>
                  <a:srgbClr val="0D1117"/>
                </a:solidFill>
                <a:effectLst/>
                <a:latin typeface="Arial" panose="020B0604020202020204" pitchFamily="34" charset="0"/>
              </a:rPr>
              <a:t> hem de Linux'un topluluğa bağlı dönütlerle geliştirilmesi doğrultusunda herkese açık, ücretsiz ve sınırsız geliştirilme potansiyeline sahip, gerçek anlamda insana hizmet eden özgür bir işletim sistemi ortaya çıkmış oldu. </a:t>
            </a:r>
            <a:endParaRPr lang="tr-TR" sz="3200" dirty="0"/>
          </a:p>
        </p:txBody>
      </p:sp>
    </p:spTree>
    <p:extLst>
      <p:ext uri="{BB962C8B-B14F-4D97-AF65-F5344CB8AC3E}">
        <p14:creationId xmlns:p14="http://schemas.microsoft.com/office/powerpoint/2010/main" val="3937392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ADDB46-F16C-4227-BA4F-FE1A51987E66}"/>
              </a:ext>
            </a:extLst>
          </p:cNvPr>
          <p:cNvSpPr>
            <a:spLocks noGrp="1"/>
          </p:cNvSpPr>
          <p:nvPr>
            <p:ph type="title"/>
          </p:nvPr>
        </p:nvSpPr>
        <p:spPr>
          <a:xfrm>
            <a:off x="838200" y="500062"/>
            <a:ext cx="10515600" cy="1325563"/>
          </a:xfrm>
        </p:spPr>
        <p:txBody>
          <a:bodyPr>
            <a:normAutofit fontScale="90000"/>
          </a:bodyPr>
          <a:lstStyle/>
          <a:p>
            <a:pPr algn="ctr"/>
            <a:r>
              <a:rPr lang="tr-TR" sz="7200" b="1" i="0" u="none" strike="noStrike" dirty="0">
                <a:solidFill>
                  <a:srgbClr val="0D1117"/>
                </a:solidFill>
                <a:effectLst/>
                <a:latin typeface="Arial" panose="020B0604020202020204" pitchFamily="34" charset="0"/>
              </a:rPr>
              <a:t>Toparlayacak Olursak </a:t>
            </a:r>
            <a:br>
              <a:rPr lang="tr-TR" sz="4400" b="0" dirty="0">
                <a:effectLst/>
              </a:rPr>
            </a:br>
            <a:endParaRPr lang="tr-TR" dirty="0"/>
          </a:p>
        </p:txBody>
      </p:sp>
      <p:sp>
        <p:nvSpPr>
          <p:cNvPr id="3" name="İçerik Yer Tutucusu 2">
            <a:extLst>
              <a:ext uri="{FF2B5EF4-FFF2-40B4-BE49-F238E27FC236}">
                <a16:creationId xmlns:a16="http://schemas.microsoft.com/office/drawing/2014/main" id="{3E36BB0B-01E1-448D-B584-D954A2579782}"/>
              </a:ext>
            </a:extLst>
          </p:cNvPr>
          <p:cNvSpPr>
            <a:spLocks noGrp="1"/>
          </p:cNvSpPr>
          <p:nvPr>
            <p:ph idx="1"/>
          </p:nvPr>
        </p:nvSpPr>
        <p:spPr/>
        <p:txBody>
          <a:bodyPr>
            <a:normAutofit/>
          </a:bodyPr>
          <a:lstStyle/>
          <a:p>
            <a:pPr marL="0" indent="0" rtl="0">
              <a:spcBef>
                <a:spcPts val="1200"/>
              </a:spcBef>
              <a:spcAft>
                <a:spcPts val="0"/>
              </a:spcAft>
              <a:buNone/>
            </a:pPr>
            <a:r>
              <a:rPr lang="tr-TR" sz="3600" b="0" i="0" u="none" strike="noStrike" dirty="0">
                <a:solidFill>
                  <a:srgbClr val="0D1117"/>
                </a:solidFill>
                <a:effectLst/>
                <a:latin typeface="Arial" panose="020B0604020202020204" pitchFamily="34" charset="0"/>
              </a:rPr>
              <a:t>Anlatımın başında da söylediğimiz şekilde; Linux bir işletim sistemi değil, çekirdektir(</a:t>
            </a:r>
            <a:r>
              <a:rPr lang="tr-TR" sz="3600" b="0" i="0" u="none" strike="noStrike" dirty="0" err="1">
                <a:solidFill>
                  <a:srgbClr val="0D1117"/>
                </a:solidFill>
                <a:effectLst/>
                <a:latin typeface="Arial" panose="020B0604020202020204" pitchFamily="34" charset="0"/>
              </a:rPr>
              <a:t>kernel</a:t>
            </a:r>
            <a:r>
              <a:rPr lang="tr-TR" sz="3600" b="0" i="0" u="none" strike="noStrike" dirty="0">
                <a:solidFill>
                  <a:srgbClr val="0D1117"/>
                </a:solidFill>
                <a:effectLst/>
                <a:latin typeface="Arial" panose="020B0604020202020204" pitchFamily="34" charset="0"/>
              </a:rPr>
              <a:t>). GNU/Linux bütünü bir işletim sistemidir. Ancak genellikle söylenmesi uzun veya zor geldiği için, zamanla sadece Linux olarak geçmeye başlamıştır.</a:t>
            </a:r>
            <a:endParaRPr lang="tr-TR" sz="3600" b="0" dirty="0">
              <a:effectLst/>
            </a:endParaRPr>
          </a:p>
          <a:p>
            <a:pPr marL="0" indent="0">
              <a:buNone/>
            </a:pPr>
            <a:br>
              <a:rPr lang="tr-TR" dirty="0"/>
            </a:br>
            <a:endParaRPr lang="tr-TR" dirty="0"/>
          </a:p>
        </p:txBody>
      </p:sp>
    </p:spTree>
    <p:extLst>
      <p:ext uri="{BB962C8B-B14F-4D97-AF65-F5344CB8AC3E}">
        <p14:creationId xmlns:p14="http://schemas.microsoft.com/office/powerpoint/2010/main" val="1910969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3B2AF501-7E66-4CB8-B669-C3021CD7C1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8778" y="492949"/>
            <a:ext cx="9253621" cy="5872101"/>
          </a:xfrm>
        </p:spPr>
      </p:pic>
    </p:spTree>
    <p:extLst>
      <p:ext uri="{BB962C8B-B14F-4D97-AF65-F5344CB8AC3E}">
        <p14:creationId xmlns:p14="http://schemas.microsoft.com/office/powerpoint/2010/main" val="1170077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63495F-0981-4C9F-88C1-699494EE390C}"/>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9BA5AE0C-21FF-43B5-9C2E-345215FD144D}"/>
              </a:ext>
            </a:extLst>
          </p:cNvPr>
          <p:cNvSpPr>
            <a:spLocks noGrp="1"/>
          </p:cNvSpPr>
          <p:nvPr>
            <p:ph idx="1"/>
          </p:nvPr>
        </p:nvSpPr>
        <p:spPr/>
        <p:txBody>
          <a:bodyPr/>
          <a:lstStyle/>
          <a:p>
            <a:endParaRPr lang="tr-TR"/>
          </a:p>
        </p:txBody>
      </p:sp>
    </p:spTree>
    <p:extLst>
      <p:ext uri="{BB962C8B-B14F-4D97-AF65-F5344CB8AC3E}">
        <p14:creationId xmlns:p14="http://schemas.microsoft.com/office/powerpoint/2010/main" val="490964611"/>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635</Words>
  <Application>Microsoft Office PowerPoint</Application>
  <PresentationFormat>Geniş ekran</PresentationFormat>
  <Paragraphs>24</Paragraphs>
  <Slides>12</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12</vt:i4>
      </vt:variant>
    </vt:vector>
  </HeadingPairs>
  <TitlesOfParts>
    <vt:vector size="18" baseType="lpstr">
      <vt:lpstr>Arial</vt:lpstr>
      <vt:lpstr>Arial Black</vt:lpstr>
      <vt:lpstr>Calibri</vt:lpstr>
      <vt:lpstr>Calibri Light</vt:lpstr>
      <vt:lpstr>Courier New</vt:lpstr>
      <vt:lpstr>Office Teması</vt:lpstr>
      <vt:lpstr>GNU/LINUX</vt:lpstr>
      <vt:lpstr>            UNIX  </vt:lpstr>
      <vt:lpstr>       LInus Torvalds</vt:lpstr>
      <vt:lpstr>PowerPoint Sunusu</vt:lpstr>
      <vt:lpstr>Açık Kaynak ve Özgür Yazılım</vt:lpstr>
      <vt:lpstr>Açık Kaynak ve Özgür Yazılım</vt:lpstr>
      <vt:lpstr>Açık Kaynak ve Özgür Yazılım</vt:lpstr>
      <vt:lpstr>      GNU</vt:lpstr>
      <vt:lpstr>PowerPoint Sunusu</vt:lpstr>
      <vt:lpstr>Toparlayacak Olursak  </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GNU/LINUX</dc:title>
  <dc:creator>umut</dc:creator>
  <cp:lastModifiedBy>umut</cp:lastModifiedBy>
  <cp:revision>2</cp:revision>
  <dcterms:created xsi:type="dcterms:W3CDTF">2022-02-28T12:55:51Z</dcterms:created>
  <dcterms:modified xsi:type="dcterms:W3CDTF">2022-02-28T22:22:44Z</dcterms:modified>
</cp:coreProperties>
</file>